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5176500" cy="20104100"/>
  <p:notesSz cx="15176500" cy="201041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667"/>
  </p:normalViewPr>
  <p:slideViewPr>
    <p:cSldViewPr>
      <p:cViewPr>
        <p:scale>
          <a:sx n="83" d="100"/>
          <a:sy n="83" d="100"/>
        </p:scale>
        <p:origin x="1912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38713" y="6232271"/>
            <a:ext cx="1290542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277427" y="11258296"/>
            <a:ext cx="1062799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59142" y="4623943"/>
            <a:ext cx="66045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819167" y="4623943"/>
            <a:ext cx="66045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9142" y="804164"/>
            <a:ext cx="1366456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9142" y="4623943"/>
            <a:ext cx="1366456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210636" y="19804524"/>
            <a:ext cx="9399905" cy="160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59142" y="18696814"/>
            <a:ext cx="349205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31652" y="18696814"/>
            <a:ext cx="3492055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jpg"/><Relationship Id="rId21" Type="http://schemas.openxmlformats.org/officeDocument/2006/relationships/image" Target="../media/image31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jp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jp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jp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168244" cy="20104100"/>
            <a:chOff x="0" y="0"/>
            <a:chExt cx="15168244" cy="20104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3365" y="0"/>
              <a:ext cx="14574812" cy="19869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"/>
              <a:ext cx="602615" cy="20104100"/>
            </a:xfrm>
            <a:custGeom>
              <a:avLst/>
              <a:gdLst/>
              <a:ahLst/>
              <a:cxnLst/>
              <a:rect l="l" t="t" r="r" b="b"/>
              <a:pathLst>
                <a:path w="602615" h="20104100">
                  <a:moveTo>
                    <a:pt x="602156" y="20104099"/>
                  </a:moveTo>
                  <a:lnTo>
                    <a:pt x="602156" y="0"/>
                  </a:lnTo>
                  <a:lnTo>
                    <a:pt x="0" y="0"/>
                  </a:lnTo>
                  <a:lnTo>
                    <a:pt x="0" y="20104099"/>
                  </a:lnTo>
                  <a:lnTo>
                    <a:pt x="602156" y="20104099"/>
                  </a:lnTo>
                  <a:close/>
                </a:path>
              </a:pathLst>
            </a:custGeom>
            <a:solidFill>
              <a:srgbClr val="6C50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5666" y="5397772"/>
            <a:ext cx="497840" cy="93237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610"/>
              </a:lnSpc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UNIVERSITÉ</a:t>
            </a:r>
            <a:r>
              <a:rPr sz="305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LIBRE</a:t>
            </a:r>
            <a:r>
              <a:rPr sz="305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05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BRUXELLES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0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65" dirty="0">
                <a:solidFill>
                  <a:srgbClr val="FFFFFF"/>
                </a:solidFill>
                <a:latin typeface="Calibri"/>
                <a:cs typeface="Calibri"/>
              </a:rPr>
              <a:t>FACULTÉ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6953" y="406905"/>
            <a:ext cx="4340860" cy="1153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2665" marR="5080" indent="-990600">
              <a:lnSpc>
                <a:spcPct val="100000"/>
              </a:lnSpc>
              <a:spcBef>
                <a:spcPts val="105"/>
              </a:spcBef>
            </a:pPr>
            <a:r>
              <a:rPr sz="3700" b="1" dirty="0">
                <a:solidFill>
                  <a:srgbClr val="272558"/>
                </a:solidFill>
                <a:latin typeface="Calibri"/>
                <a:cs typeface="Calibri"/>
              </a:rPr>
              <a:t>Induction</a:t>
            </a:r>
            <a:r>
              <a:rPr sz="3700" b="1" spc="-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700" b="1" dirty="0">
                <a:solidFill>
                  <a:srgbClr val="272558"/>
                </a:solidFill>
                <a:latin typeface="Calibri"/>
                <a:cs typeface="Calibri"/>
              </a:rPr>
              <a:t>et</a:t>
            </a:r>
            <a:r>
              <a:rPr sz="3700" b="1" spc="-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272558"/>
                </a:solidFill>
                <a:latin typeface="Calibri"/>
                <a:cs typeface="Calibri"/>
              </a:rPr>
              <a:t>lévitation magnétique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72639" y="2106565"/>
            <a:ext cx="8637905" cy="1226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25725" marR="2619375" indent="68580" algn="ctr">
              <a:lnSpc>
                <a:spcPct val="122000"/>
              </a:lnSpc>
              <a:spcBef>
                <a:spcPts val="95"/>
              </a:spcBef>
            </a:pPr>
            <a:r>
              <a:rPr sz="2200" b="1" spc="-35" dirty="0">
                <a:solidFill>
                  <a:srgbClr val="37AB51"/>
                </a:solidFill>
                <a:latin typeface="Calibri"/>
                <a:cs typeface="Calibri"/>
              </a:rPr>
              <a:t>FACULTÉ</a:t>
            </a:r>
            <a:r>
              <a:rPr sz="2200" b="1" spc="-50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7AB51"/>
                </a:solidFill>
                <a:latin typeface="Calibri"/>
                <a:cs typeface="Calibri"/>
              </a:rPr>
              <a:t>DES</a:t>
            </a:r>
            <a:r>
              <a:rPr sz="2200" b="1" spc="-50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7AB51"/>
                </a:solidFill>
                <a:latin typeface="Calibri"/>
                <a:cs typeface="Calibri"/>
              </a:rPr>
              <a:t>SCIENCES DÉPARTEMENT</a:t>
            </a:r>
            <a:r>
              <a:rPr sz="2200" b="1" spc="-65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7AB51"/>
                </a:solidFill>
                <a:latin typeface="Calibri"/>
                <a:cs typeface="Calibri"/>
              </a:rPr>
              <a:t>DE</a:t>
            </a:r>
            <a:r>
              <a:rPr sz="2200" b="1" spc="-45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7AB51"/>
                </a:solidFill>
                <a:latin typeface="Calibri"/>
                <a:cs typeface="Calibri"/>
              </a:rPr>
              <a:t>PHYSIQUE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Joas</a:t>
            </a:r>
            <a:r>
              <a:rPr sz="2050" b="1" i="1" spc="-75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KANYINDA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35" dirty="0">
                <a:solidFill>
                  <a:srgbClr val="E9436F"/>
                </a:solidFill>
                <a:latin typeface="Calibri"/>
                <a:cs typeface="Calibri"/>
              </a:rPr>
              <a:t>WA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KANYINDA,</a:t>
            </a:r>
            <a:r>
              <a:rPr sz="2050" b="1" i="1" spc="-4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Martin</a:t>
            </a:r>
            <a:r>
              <a:rPr sz="2050" b="1" i="1" spc="-4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30" dirty="0">
                <a:solidFill>
                  <a:srgbClr val="E9436F"/>
                </a:solidFill>
                <a:latin typeface="Calibri"/>
                <a:cs typeface="Calibri"/>
              </a:rPr>
              <a:t>VANDERCAMMEN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et</a:t>
            </a:r>
            <a:r>
              <a:rPr sz="2050" b="1" i="1" spc="-5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20" dirty="0">
                <a:solidFill>
                  <a:srgbClr val="E9436F"/>
                </a:solidFill>
                <a:latin typeface="Calibri"/>
                <a:cs typeface="Calibri"/>
              </a:rPr>
              <a:t>Alexandre</a:t>
            </a:r>
            <a:r>
              <a:rPr sz="2050" b="1" i="1" spc="-65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SCHMITZ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0918" y="5340875"/>
            <a:ext cx="12465685" cy="12609195"/>
            <a:chOff x="1010918" y="5340875"/>
            <a:chExt cx="12465685" cy="126091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2838" y="9323485"/>
              <a:ext cx="5269963" cy="288800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10918" y="10640350"/>
              <a:ext cx="4493648" cy="26439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916864" y="13018142"/>
              <a:ext cx="1283917" cy="162328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13722" y="5340875"/>
              <a:ext cx="5362265" cy="206162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1744" y="16079835"/>
              <a:ext cx="2333434" cy="1869945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971683" y="13568481"/>
            <a:ext cx="3429635" cy="78803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05104" marR="5080" indent="-193040">
              <a:lnSpc>
                <a:spcPct val="100400"/>
              </a:lnSpc>
              <a:spcBef>
                <a:spcPts val="80"/>
              </a:spcBef>
            </a:pPr>
            <a:r>
              <a:rPr sz="2500" b="1" dirty="0">
                <a:solidFill>
                  <a:srgbClr val="6F2F9F"/>
                </a:solidFill>
                <a:latin typeface="Calibri"/>
                <a:cs typeface="Calibri"/>
              </a:rPr>
              <a:t>Moyen</a:t>
            </a:r>
            <a:r>
              <a:rPr sz="2500" b="1" spc="-1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6F2F9F"/>
                </a:solidFill>
                <a:latin typeface="Calibri"/>
                <a:cs typeface="Calibri"/>
              </a:rPr>
              <a:t>mnémotechnique: </a:t>
            </a:r>
            <a:r>
              <a:rPr sz="2500" b="1" dirty="0">
                <a:solidFill>
                  <a:srgbClr val="6F2F9F"/>
                </a:solidFill>
                <a:latin typeface="Calibri"/>
                <a:cs typeface="Calibri"/>
              </a:rPr>
              <a:t>Règle</a:t>
            </a:r>
            <a:r>
              <a:rPr sz="25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6F2F9F"/>
                </a:solidFill>
                <a:latin typeface="Calibri"/>
                <a:cs typeface="Calibri"/>
              </a:rPr>
              <a:t>de</a:t>
            </a:r>
            <a:r>
              <a:rPr sz="25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6F2F9F"/>
                </a:solidFill>
                <a:latin typeface="Calibri"/>
                <a:cs typeface="Calibri"/>
              </a:rPr>
              <a:t>la</a:t>
            </a:r>
            <a:r>
              <a:rPr sz="25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6F2F9F"/>
                </a:solidFill>
                <a:latin typeface="Calibri"/>
                <a:cs typeface="Calibri"/>
              </a:rPr>
              <a:t>main</a:t>
            </a:r>
            <a:r>
              <a:rPr sz="25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6F2F9F"/>
                </a:solidFill>
                <a:latin typeface="Calibri"/>
                <a:cs typeface="Calibri"/>
              </a:rPr>
              <a:t>droite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27730" y="3825011"/>
            <a:ext cx="2992755" cy="447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Schéma</a:t>
            </a:r>
            <a:r>
              <a:rPr sz="2750" b="1" u="sng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du</a:t>
            </a:r>
            <a:r>
              <a:rPr sz="2750" b="1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montage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992898" y="7603621"/>
            <a:ext cx="5306695" cy="16675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80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montage,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tube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est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parcourue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par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un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alternatif.</a:t>
            </a:r>
            <a:endParaRPr sz="1800">
              <a:latin typeface="Calibri"/>
              <a:cs typeface="Calibri"/>
            </a:endParaRPr>
          </a:p>
          <a:p>
            <a:pPr marL="1466850" marR="22860" indent="-1188085">
              <a:lnSpc>
                <a:spcPct val="100699"/>
              </a:lnSpc>
              <a:spcBef>
                <a:spcPts val="1860"/>
              </a:spcBef>
            </a:pP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Champ</a:t>
            </a:r>
            <a:r>
              <a:rPr sz="2750" b="1" u="sng" spc="-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magnétique</a:t>
            </a:r>
            <a:r>
              <a:rPr sz="2750" b="1" u="sng" spc="-1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induit par</a:t>
            </a:r>
            <a:r>
              <a:rPr sz="2750" b="1" u="sng" spc="-2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une</a:t>
            </a:r>
            <a:r>
              <a:rPr sz="2750" b="1" spc="-2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boucle de</a:t>
            </a:r>
            <a:r>
              <a:rPr sz="2750" b="1" u="sng" spc="-2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courant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4217" y="9043763"/>
            <a:ext cx="5147945" cy="110807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325"/>
              </a:spcBef>
            </a:pPr>
            <a:r>
              <a:rPr sz="1800" b="1" dirty="0">
                <a:latin typeface="Calibri"/>
                <a:cs typeface="Calibri"/>
              </a:rPr>
              <a:t>Bobine:</a:t>
            </a:r>
            <a:r>
              <a:rPr sz="1800" b="1" spc="8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ensemble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spires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fil</a:t>
            </a:r>
            <a:r>
              <a:rPr sz="1800" b="1" spc="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8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cuivre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sz="275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Attraction</a:t>
            </a:r>
            <a:r>
              <a:rPr sz="2750" b="1" u="sng" spc="-4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et</a:t>
            </a:r>
            <a:r>
              <a:rPr sz="2750" b="1" u="sng" spc="-35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répulsion</a:t>
            </a:r>
            <a:r>
              <a:rPr sz="275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magnétique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734748" y="3836146"/>
            <a:ext cx="6240145" cy="1456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87960" algn="ctr">
              <a:lnSpc>
                <a:spcPct val="100000"/>
              </a:lnSpc>
              <a:spcBef>
                <a:spcPts val="120"/>
              </a:spcBef>
            </a:pP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Principe</a:t>
            </a:r>
            <a:r>
              <a:rPr sz="2750" b="1" u="sng" spc="-6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du</a:t>
            </a:r>
            <a:r>
              <a:rPr sz="2750" b="1" u="sng" spc="-2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courant</a:t>
            </a:r>
            <a:r>
              <a:rPr sz="2750" b="1" u="sng" spc="-5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alternatif</a:t>
            </a:r>
            <a:endParaRPr sz="2750" dirty="0">
              <a:latin typeface="Calibri"/>
              <a:cs typeface="Calibri"/>
            </a:endParaRPr>
          </a:p>
          <a:p>
            <a:pPr marL="12700" marR="5080" algn="just">
              <a:lnSpc>
                <a:spcPct val="102600"/>
              </a:lnSpc>
              <a:spcBef>
                <a:spcPts val="1290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Produit</a:t>
            </a:r>
            <a:r>
              <a:rPr sz="1800" b="1" spc="4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par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un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générateur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alternatif,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alternatif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est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un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qui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change</a:t>
            </a:r>
            <a:r>
              <a:rPr sz="1800" b="1" spc="4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sens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une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certaine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fréquence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(un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certain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nombre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fois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par</a:t>
            </a:r>
            <a:r>
              <a:rPr sz="1800" b="1" spc="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seconde).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2526" y="16470845"/>
            <a:ext cx="214185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</a:t>
            </a:r>
            <a:r>
              <a:rPr sz="1250" b="1" dirty="0">
                <a:solidFill>
                  <a:srgbClr val="996600"/>
                </a:solidFill>
                <a:latin typeface="Calibri"/>
                <a:cs typeface="Calibri"/>
              </a:rPr>
              <a:t>M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:</a:t>
            </a:r>
            <a:r>
              <a:rPr sz="1800" b="1" spc="6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Force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magnétique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52526" y="17033619"/>
            <a:ext cx="79121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P:</a:t>
            </a:r>
            <a:r>
              <a:rPr sz="1800" b="1" spc="1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Poids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35512" y="17982711"/>
            <a:ext cx="5475605" cy="86804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somme</a:t>
            </a:r>
            <a:r>
              <a:rPr sz="1800" b="1" spc="3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des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forces</a:t>
            </a:r>
            <a:r>
              <a:rPr sz="1800" b="1" spc="10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qui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s’appliquent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sur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l’aimant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996600"/>
                </a:solidFill>
                <a:latin typeface="Calibri"/>
                <a:cs typeface="Calibri"/>
              </a:rPr>
              <a:t>est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nulle.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Dès</a:t>
            </a:r>
            <a:r>
              <a:rPr sz="1800" b="1" spc="12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lors,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une</a:t>
            </a:r>
            <a:r>
              <a:rPr sz="1800" b="1" spc="10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simple</a:t>
            </a:r>
            <a:r>
              <a:rPr sz="1800" b="1" spc="10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perturbation</a:t>
            </a:r>
            <a:r>
              <a:rPr sz="1800" b="1" spc="10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latérale</a:t>
            </a:r>
            <a:r>
              <a:rPr sz="1800" b="1" spc="10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suffirait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pour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faire</a:t>
            </a:r>
            <a:r>
              <a:rPr sz="1800" b="1" spc="7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tomber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l’aimant.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05248" y="19152094"/>
            <a:ext cx="25876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Mise</a:t>
            </a:r>
            <a:r>
              <a:rPr sz="2050" b="1" spc="-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en</a:t>
            </a:r>
            <a:r>
              <a:rPr sz="2050" b="1" spc="-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place</a:t>
            </a:r>
            <a:r>
              <a:rPr sz="2050" b="1" spc="-9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d’un</a:t>
            </a:r>
            <a:r>
              <a:rPr sz="2050" b="1" spc="-9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996600"/>
                </a:solidFill>
                <a:latin typeface="Calibri"/>
                <a:cs typeface="Calibri"/>
              </a:rPr>
              <a:t>tube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22989" y="19187537"/>
            <a:ext cx="611505" cy="330200"/>
            <a:chOff x="1322989" y="19187537"/>
            <a:chExt cx="611505" cy="330200"/>
          </a:xfrm>
        </p:grpSpPr>
        <p:sp>
          <p:nvSpPr>
            <p:cNvPr id="24" name="object 24"/>
            <p:cNvSpPr/>
            <p:nvPr/>
          </p:nvSpPr>
          <p:spPr>
            <a:xfrm>
              <a:off x="1325212" y="19189759"/>
              <a:ext cx="607060" cy="325755"/>
            </a:xfrm>
            <a:custGeom>
              <a:avLst/>
              <a:gdLst/>
              <a:ahLst/>
              <a:cxnLst/>
              <a:rect l="l" t="t" r="r" b="b"/>
              <a:pathLst>
                <a:path w="607060" h="325755">
                  <a:moveTo>
                    <a:pt x="404601" y="0"/>
                  </a:moveTo>
                  <a:lnTo>
                    <a:pt x="404601" y="81342"/>
                  </a:lnTo>
                  <a:lnTo>
                    <a:pt x="0" y="81342"/>
                  </a:lnTo>
                  <a:lnTo>
                    <a:pt x="0" y="243968"/>
                  </a:lnTo>
                  <a:lnTo>
                    <a:pt x="404601" y="243968"/>
                  </a:lnTo>
                  <a:lnTo>
                    <a:pt x="404601" y="325310"/>
                  </a:lnTo>
                  <a:lnTo>
                    <a:pt x="606551" y="162684"/>
                  </a:lnTo>
                  <a:lnTo>
                    <a:pt x="404601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25212" y="19189759"/>
              <a:ext cx="607060" cy="325755"/>
            </a:xfrm>
            <a:custGeom>
              <a:avLst/>
              <a:gdLst/>
              <a:ahLst/>
              <a:cxnLst/>
              <a:rect l="l" t="t" r="r" b="b"/>
              <a:pathLst>
                <a:path w="607060" h="325755">
                  <a:moveTo>
                    <a:pt x="0" y="81342"/>
                  </a:moveTo>
                  <a:lnTo>
                    <a:pt x="404601" y="81342"/>
                  </a:lnTo>
                  <a:lnTo>
                    <a:pt x="404601" y="0"/>
                  </a:lnTo>
                  <a:lnTo>
                    <a:pt x="606551" y="162684"/>
                  </a:lnTo>
                  <a:lnTo>
                    <a:pt x="404601" y="325310"/>
                  </a:lnTo>
                  <a:lnTo>
                    <a:pt x="404601" y="243968"/>
                  </a:lnTo>
                  <a:lnTo>
                    <a:pt x="0" y="243968"/>
                  </a:lnTo>
                  <a:lnTo>
                    <a:pt x="0" y="81342"/>
                  </a:lnTo>
                  <a:close/>
                </a:path>
              </a:pathLst>
            </a:custGeom>
            <a:ln w="4395">
              <a:solidFill>
                <a:srgbClr val="99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137650" y="12335425"/>
            <a:ext cx="4978400" cy="86804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80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tube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produit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donc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un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champ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variable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qui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change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1800" b="1" spc="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sens</a:t>
            </a:r>
            <a:r>
              <a:rPr sz="1800" b="1" spc="1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72558"/>
                </a:solidFill>
                <a:latin typeface="Calibri"/>
                <a:cs typeface="Calibri"/>
              </a:rPr>
              <a:t>même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fréquence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que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courant.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02746" y="17950595"/>
            <a:ext cx="3520440" cy="156527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champ</a:t>
            </a:r>
            <a:r>
              <a:rPr sz="1800" b="1" spc="14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r>
              <a:rPr sz="1800" b="1" spc="1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variable</a:t>
            </a:r>
            <a:r>
              <a:rPr sz="1800" b="1" spc="1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72558"/>
                </a:solidFill>
                <a:latin typeface="Calibri"/>
                <a:cs typeface="Calibri"/>
              </a:rPr>
              <a:t>créé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par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tube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72558"/>
                </a:solidFill>
                <a:latin typeface="Calibri"/>
                <a:cs typeface="Calibri"/>
              </a:rPr>
              <a:t>donc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induire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un</a:t>
            </a:r>
            <a:r>
              <a:rPr sz="1800" b="1" spc="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alternatif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la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114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boîte.</a:t>
            </a:r>
            <a:endParaRPr sz="1800">
              <a:latin typeface="Calibri"/>
              <a:cs typeface="Calibri"/>
            </a:endParaRPr>
          </a:p>
          <a:p>
            <a:pPr marL="781685">
              <a:lnSpc>
                <a:spcPct val="100000"/>
              </a:lnSpc>
              <a:spcBef>
                <a:spcPts val="825"/>
              </a:spcBef>
            </a:pP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Allumage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lampe!!!</a:t>
            </a:r>
            <a:endParaRPr sz="20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979739" y="19183142"/>
            <a:ext cx="549910" cy="330200"/>
            <a:chOff x="6979739" y="19183142"/>
            <a:chExt cx="549910" cy="330200"/>
          </a:xfrm>
        </p:grpSpPr>
        <p:sp>
          <p:nvSpPr>
            <p:cNvPr id="29" name="object 29"/>
            <p:cNvSpPr/>
            <p:nvPr/>
          </p:nvSpPr>
          <p:spPr>
            <a:xfrm>
              <a:off x="6981962" y="19185364"/>
              <a:ext cx="545465" cy="325755"/>
            </a:xfrm>
            <a:custGeom>
              <a:avLst/>
              <a:gdLst/>
              <a:ahLst/>
              <a:cxnLst/>
              <a:rect l="l" t="t" r="r" b="b"/>
              <a:pathLst>
                <a:path w="545465" h="325755">
                  <a:moveTo>
                    <a:pt x="382391" y="0"/>
                  </a:moveTo>
                  <a:lnTo>
                    <a:pt x="382391" y="81342"/>
                  </a:lnTo>
                  <a:lnTo>
                    <a:pt x="0" y="81342"/>
                  </a:lnTo>
                  <a:lnTo>
                    <a:pt x="0" y="243968"/>
                  </a:lnTo>
                  <a:lnTo>
                    <a:pt x="382391" y="243968"/>
                  </a:lnTo>
                  <a:lnTo>
                    <a:pt x="382391" y="325310"/>
                  </a:lnTo>
                  <a:lnTo>
                    <a:pt x="545017" y="162684"/>
                  </a:lnTo>
                  <a:lnTo>
                    <a:pt x="382391" y="0"/>
                  </a:lnTo>
                  <a:close/>
                </a:path>
              </a:pathLst>
            </a:custGeom>
            <a:solidFill>
              <a:srgbClr val="272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81962" y="19185364"/>
              <a:ext cx="545465" cy="325755"/>
            </a:xfrm>
            <a:custGeom>
              <a:avLst/>
              <a:gdLst/>
              <a:ahLst/>
              <a:cxnLst/>
              <a:rect l="l" t="t" r="r" b="b"/>
              <a:pathLst>
                <a:path w="545465" h="325755">
                  <a:moveTo>
                    <a:pt x="0" y="81342"/>
                  </a:moveTo>
                  <a:lnTo>
                    <a:pt x="382391" y="81342"/>
                  </a:lnTo>
                  <a:lnTo>
                    <a:pt x="382391" y="0"/>
                  </a:lnTo>
                  <a:lnTo>
                    <a:pt x="545017" y="162684"/>
                  </a:lnTo>
                  <a:lnTo>
                    <a:pt x="382391" y="325310"/>
                  </a:lnTo>
                  <a:lnTo>
                    <a:pt x="382391" y="243968"/>
                  </a:lnTo>
                  <a:lnTo>
                    <a:pt x="0" y="243968"/>
                  </a:lnTo>
                  <a:lnTo>
                    <a:pt x="0" y="81342"/>
                  </a:lnTo>
                  <a:close/>
                </a:path>
              </a:pathLst>
            </a:custGeom>
            <a:ln w="4395">
              <a:solidFill>
                <a:srgbClr val="272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640920" y="16739221"/>
            <a:ext cx="3864610" cy="86804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80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Augmentation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ou</a:t>
            </a:r>
            <a:r>
              <a:rPr sz="1800" b="1" spc="1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diminution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du</a:t>
            </a:r>
            <a:r>
              <a:rPr sz="1800" b="1" spc="1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champ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r>
              <a:rPr sz="1800" b="1" spc="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qui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passe</a:t>
            </a:r>
            <a:r>
              <a:rPr sz="1800" b="1" spc="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l’intérieur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1800" b="1" spc="1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la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50" dirty="0">
                <a:solidFill>
                  <a:srgbClr val="272558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1</a:t>
            </a:r>
            <a:r>
              <a:rPr sz="1800" b="1" spc="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72558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641330" y="18206519"/>
            <a:ext cx="4467225" cy="86804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7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Création</a:t>
            </a:r>
            <a:r>
              <a:rPr sz="1800" b="1" spc="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d’un</a:t>
            </a:r>
            <a:r>
              <a:rPr sz="1800" b="1" spc="1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induit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dans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1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70" dirty="0">
                <a:solidFill>
                  <a:srgbClr val="272558"/>
                </a:solidFill>
                <a:latin typeface="Calibri"/>
                <a:cs typeface="Calibri"/>
              </a:rPr>
              <a:t>  </a:t>
            </a:r>
            <a:r>
              <a:rPr sz="1800" b="1" spc="-50" dirty="0">
                <a:solidFill>
                  <a:srgbClr val="272558"/>
                </a:solidFill>
                <a:latin typeface="Calibri"/>
                <a:cs typeface="Calibri"/>
              </a:rPr>
              <a:t>1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pour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s’opposer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variation</a:t>
            </a:r>
            <a:r>
              <a:rPr sz="1800" b="1" spc="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du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champ magnétique.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27913" y="15447559"/>
            <a:ext cx="6402070" cy="2654300"/>
            <a:chOff x="6427913" y="15447559"/>
            <a:chExt cx="6402070" cy="2654300"/>
          </a:xfrm>
        </p:grpSpPr>
        <p:sp>
          <p:nvSpPr>
            <p:cNvPr id="34" name="object 34"/>
            <p:cNvSpPr/>
            <p:nvPr/>
          </p:nvSpPr>
          <p:spPr>
            <a:xfrm>
              <a:off x="12374936" y="17620463"/>
              <a:ext cx="452755" cy="479425"/>
            </a:xfrm>
            <a:custGeom>
              <a:avLst/>
              <a:gdLst/>
              <a:ahLst/>
              <a:cxnLst/>
              <a:rect l="l" t="t" r="r" b="b"/>
              <a:pathLst>
                <a:path w="452754" h="479425">
                  <a:moveTo>
                    <a:pt x="339551" y="0"/>
                  </a:moveTo>
                  <a:lnTo>
                    <a:pt x="113222" y="0"/>
                  </a:lnTo>
                  <a:lnTo>
                    <a:pt x="113222" y="252759"/>
                  </a:lnTo>
                  <a:lnTo>
                    <a:pt x="0" y="252759"/>
                  </a:lnTo>
                  <a:lnTo>
                    <a:pt x="226387" y="479146"/>
                  </a:lnTo>
                  <a:lnTo>
                    <a:pt x="452715" y="252759"/>
                  </a:lnTo>
                  <a:lnTo>
                    <a:pt x="339551" y="252759"/>
                  </a:lnTo>
                  <a:lnTo>
                    <a:pt x="339551" y="0"/>
                  </a:lnTo>
                  <a:close/>
                </a:path>
              </a:pathLst>
            </a:custGeom>
            <a:solidFill>
              <a:srgbClr val="272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2374936" y="17620463"/>
              <a:ext cx="452755" cy="479425"/>
            </a:xfrm>
            <a:custGeom>
              <a:avLst/>
              <a:gdLst/>
              <a:ahLst/>
              <a:cxnLst/>
              <a:rect l="l" t="t" r="r" b="b"/>
              <a:pathLst>
                <a:path w="452754" h="479425">
                  <a:moveTo>
                    <a:pt x="0" y="252759"/>
                  </a:moveTo>
                  <a:lnTo>
                    <a:pt x="113222" y="252759"/>
                  </a:lnTo>
                  <a:lnTo>
                    <a:pt x="113222" y="0"/>
                  </a:lnTo>
                  <a:lnTo>
                    <a:pt x="339551" y="0"/>
                  </a:lnTo>
                  <a:lnTo>
                    <a:pt x="339551" y="252759"/>
                  </a:lnTo>
                  <a:lnTo>
                    <a:pt x="452715" y="252759"/>
                  </a:lnTo>
                  <a:lnTo>
                    <a:pt x="226387" y="479146"/>
                  </a:lnTo>
                  <a:lnTo>
                    <a:pt x="0" y="252759"/>
                  </a:lnTo>
                  <a:close/>
                </a:path>
              </a:pathLst>
            </a:custGeom>
            <a:ln w="4395">
              <a:solidFill>
                <a:srgbClr val="272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27913" y="15447559"/>
              <a:ext cx="4160008" cy="2241919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8448837" y="14859967"/>
            <a:ext cx="6025515" cy="122428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Loi</a:t>
            </a:r>
            <a:r>
              <a:rPr sz="2750" b="1" u="sng" spc="-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d’induction</a:t>
            </a:r>
            <a:r>
              <a:rPr sz="2750" b="1" u="sng" spc="-1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électromagnétique</a:t>
            </a:r>
            <a:endParaRPr sz="2750">
              <a:latin typeface="Calibri"/>
              <a:cs typeface="Calibri"/>
            </a:endParaRPr>
          </a:p>
          <a:p>
            <a:pPr marL="2204720" marR="5080">
              <a:lnSpc>
                <a:spcPct val="102600"/>
              </a:lnSpc>
              <a:spcBef>
                <a:spcPts val="167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Champ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r>
              <a:rPr sz="1800" b="1" spc="12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variable</a:t>
            </a:r>
            <a:r>
              <a:rPr sz="1800" b="1" spc="1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crée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par</a:t>
            </a:r>
            <a:r>
              <a:rPr sz="1800" b="1" spc="1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la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50" dirty="0">
                <a:solidFill>
                  <a:srgbClr val="272558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2</a:t>
            </a:r>
            <a:r>
              <a:rPr sz="1800" b="1" spc="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72558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105128" y="4286519"/>
            <a:ext cx="13880465" cy="14049375"/>
            <a:chOff x="1274636" y="4430989"/>
            <a:chExt cx="13880465" cy="14049375"/>
          </a:xfrm>
        </p:grpSpPr>
        <p:sp>
          <p:nvSpPr>
            <p:cNvPr id="39" name="object 39"/>
            <p:cNvSpPr/>
            <p:nvPr/>
          </p:nvSpPr>
          <p:spPr>
            <a:xfrm>
              <a:off x="12366145" y="16051164"/>
              <a:ext cx="457200" cy="474980"/>
            </a:xfrm>
            <a:custGeom>
              <a:avLst/>
              <a:gdLst/>
              <a:ahLst/>
              <a:cxnLst/>
              <a:rect l="l" t="t" r="r" b="b"/>
              <a:pathLst>
                <a:path w="457200" h="474980">
                  <a:moveTo>
                    <a:pt x="342833" y="0"/>
                  </a:moveTo>
                  <a:lnTo>
                    <a:pt x="114277" y="0"/>
                  </a:lnTo>
                  <a:lnTo>
                    <a:pt x="114277" y="246195"/>
                  </a:lnTo>
                  <a:lnTo>
                    <a:pt x="0" y="246195"/>
                  </a:lnTo>
                  <a:lnTo>
                    <a:pt x="228555" y="474750"/>
                  </a:lnTo>
                  <a:lnTo>
                    <a:pt x="457111" y="246195"/>
                  </a:lnTo>
                  <a:lnTo>
                    <a:pt x="342833" y="246195"/>
                  </a:lnTo>
                  <a:lnTo>
                    <a:pt x="342833" y="0"/>
                  </a:lnTo>
                  <a:close/>
                </a:path>
              </a:pathLst>
            </a:custGeom>
            <a:solidFill>
              <a:srgbClr val="272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366145" y="16051164"/>
              <a:ext cx="457200" cy="474980"/>
            </a:xfrm>
            <a:custGeom>
              <a:avLst/>
              <a:gdLst/>
              <a:ahLst/>
              <a:cxnLst/>
              <a:rect l="l" t="t" r="r" b="b"/>
              <a:pathLst>
                <a:path w="457200" h="474980">
                  <a:moveTo>
                    <a:pt x="0" y="246195"/>
                  </a:moveTo>
                  <a:lnTo>
                    <a:pt x="114277" y="246195"/>
                  </a:lnTo>
                  <a:lnTo>
                    <a:pt x="114277" y="0"/>
                  </a:lnTo>
                  <a:lnTo>
                    <a:pt x="342833" y="0"/>
                  </a:lnTo>
                  <a:lnTo>
                    <a:pt x="342833" y="246195"/>
                  </a:lnTo>
                  <a:lnTo>
                    <a:pt x="457111" y="246195"/>
                  </a:lnTo>
                  <a:lnTo>
                    <a:pt x="228555" y="474750"/>
                  </a:lnTo>
                  <a:lnTo>
                    <a:pt x="0" y="246195"/>
                  </a:lnTo>
                  <a:close/>
                </a:path>
              </a:pathLst>
            </a:custGeom>
            <a:ln w="4395">
              <a:solidFill>
                <a:srgbClr val="27255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70638" y="15833626"/>
              <a:ext cx="237347" cy="22416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75034" y="17358912"/>
              <a:ext cx="232952" cy="22422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917645" y="18255669"/>
              <a:ext cx="237347" cy="22416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4636" y="4430989"/>
              <a:ext cx="5076570" cy="445730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325212" y="14534669"/>
              <a:ext cx="607060" cy="325755"/>
            </a:xfrm>
            <a:custGeom>
              <a:avLst/>
              <a:gdLst/>
              <a:ahLst/>
              <a:cxnLst/>
              <a:rect l="l" t="t" r="r" b="b"/>
              <a:pathLst>
                <a:path w="607060" h="325755">
                  <a:moveTo>
                    <a:pt x="404601" y="0"/>
                  </a:moveTo>
                  <a:lnTo>
                    <a:pt x="404601" y="81283"/>
                  </a:lnTo>
                  <a:lnTo>
                    <a:pt x="0" y="81283"/>
                  </a:lnTo>
                  <a:lnTo>
                    <a:pt x="0" y="243968"/>
                  </a:lnTo>
                  <a:lnTo>
                    <a:pt x="404601" y="243968"/>
                  </a:lnTo>
                  <a:lnTo>
                    <a:pt x="404601" y="325252"/>
                  </a:lnTo>
                  <a:lnTo>
                    <a:pt x="606551" y="162626"/>
                  </a:lnTo>
                  <a:lnTo>
                    <a:pt x="404601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325212" y="14534669"/>
              <a:ext cx="607060" cy="325755"/>
            </a:xfrm>
            <a:custGeom>
              <a:avLst/>
              <a:gdLst/>
              <a:ahLst/>
              <a:cxnLst/>
              <a:rect l="l" t="t" r="r" b="b"/>
              <a:pathLst>
                <a:path w="607060" h="325755">
                  <a:moveTo>
                    <a:pt x="0" y="81283"/>
                  </a:moveTo>
                  <a:lnTo>
                    <a:pt x="404601" y="81283"/>
                  </a:lnTo>
                  <a:lnTo>
                    <a:pt x="404601" y="0"/>
                  </a:lnTo>
                  <a:lnTo>
                    <a:pt x="606551" y="162626"/>
                  </a:lnTo>
                  <a:lnTo>
                    <a:pt x="404601" y="325252"/>
                  </a:lnTo>
                  <a:lnTo>
                    <a:pt x="404601" y="243968"/>
                  </a:lnTo>
                  <a:lnTo>
                    <a:pt x="0" y="243968"/>
                  </a:lnTo>
                  <a:lnTo>
                    <a:pt x="0" y="81283"/>
                  </a:lnTo>
                  <a:close/>
                </a:path>
              </a:pathLst>
            </a:custGeom>
            <a:ln w="4395">
              <a:solidFill>
                <a:srgbClr val="99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076162" y="13464285"/>
            <a:ext cx="4231005" cy="256540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2080" marR="5080">
              <a:lnSpc>
                <a:spcPct val="102600"/>
              </a:lnSpc>
              <a:spcBef>
                <a:spcPts val="7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Dans</a:t>
            </a:r>
            <a:r>
              <a:rPr sz="1800" b="1" spc="7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le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montage,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les</a:t>
            </a:r>
            <a:r>
              <a:rPr sz="1800" b="1" spc="8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aimants</a:t>
            </a:r>
            <a:r>
              <a:rPr sz="1800" b="1" spc="8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sont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placés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sorte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à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ce</a:t>
            </a:r>
            <a:r>
              <a:rPr sz="1800" b="1" spc="5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que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les</a:t>
            </a:r>
            <a:r>
              <a:rPr sz="1800" b="1" spc="4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pôles</a:t>
            </a:r>
            <a:r>
              <a:rPr sz="1800" b="1" spc="4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qui</a:t>
            </a:r>
            <a:r>
              <a:rPr sz="1800" b="1" spc="4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se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font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996600"/>
                </a:solidFill>
                <a:latin typeface="Calibri"/>
                <a:cs typeface="Calibri"/>
              </a:rPr>
              <a:t>face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soient</a:t>
            </a:r>
            <a:r>
              <a:rPr sz="1800" b="1" spc="9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identiques.</a:t>
            </a:r>
            <a:endParaRPr sz="1800">
              <a:latin typeface="Calibri"/>
              <a:cs typeface="Calibri"/>
            </a:endParaRPr>
          </a:p>
          <a:p>
            <a:pPr marL="1023619">
              <a:lnSpc>
                <a:spcPct val="100000"/>
              </a:lnSpc>
              <a:spcBef>
                <a:spcPts val="1435"/>
              </a:spcBef>
            </a:pPr>
            <a:r>
              <a:rPr sz="2050" b="1" spc="-20" dirty="0">
                <a:solidFill>
                  <a:srgbClr val="996600"/>
                </a:solidFill>
                <a:latin typeface="Calibri"/>
                <a:cs typeface="Calibri"/>
              </a:rPr>
              <a:t>Lévitation</a:t>
            </a:r>
            <a:r>
              <a:rPr sz="2050" b="1" spc="-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2050" b="1" spc="-1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2050" b="1" spc="-3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996600"/>
                </a:solidFill>
                <a:latin typeface="Calibri"/>
                <a:cs typeface="Calibri"/>
              </a:rPr>
              <a:t>boite</a:t>
            </a:r>
            <a:endParaRPr sz="2050">
              <a:latin typeface="Calibri"/>
              <a:cs typeface="Calibri"/>
            </a:endParaRPr>
          </a:p>
          <a:p>
            <a:pPr marL="831850">
              <a:lnSpc>
                <a:spcPct val="100000"/>
              </a:lnSpc>
              <a:spcBef>
                <a:spcPts val="384"/>
              </a:spcBef>
            </a:pPr>
            <a:r>
              <a:rPr sz="2750" b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Equilibre</a:t>
            </a:r>
            <a:r>
              <a:rPr sz="2750" b="1" u="sng" spc="-75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instable</a:t>
            </a:r>
            <a:endParaRPr sz="2750">
              <a:latin typeface="Calibri"/>
              <a:cs typeface="Calibri"/>
            </a:endParaRPr>
          </a:p>
          <a:p>
            <a:pPr marL="12700" marR="1624330">
              <a:lnSpc>
                <a:spcPct val="102600"/>
              </a:lnSpc>
              <a:spcBef>
                <a:spcPts val="135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Forces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qui</a:t>
            </a:r>
            <a:r>
              <a:rPr sz="1800" b="1" spc="8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s’appliquent</a:t>
            </a:r>
            <a:r>
              <a:rPr sz="1800" b="1" spc="6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996600"/>
                </a:solidFill>
                <a:latin typeface="Calibri"/>
                <a:cs typeface="Calibri"/>
              </a:rPr>
              <a:t>sur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l’aimant</a:t>
            </a:r>
            <a:r>
              <a:rPr sz="1800" b="1" spc="5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dans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2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boîte: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5181580" cy="20104100"/>
            <a:chOff x="0" y="0"/>
            <a:chExt cx="15181580" cy="201041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4132" y="0"/>
              <a:ext cx="14557231" cy="198690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"/>
              <a:ext cx="602615" cy="20104100"/>
            </a:xfrm>
            <a:custGeom>
              <a:avLst/>
              <a:gdLst/>
              <a:ahLst/>
              <a:cxnLst/>
              <a:rect l="l" t="t" r="r" b="b"/>
              <a:pathLst>
                <a:path w="602615" h="20104100">
                  <a:moveTo>
                    <a:pt x="602156" y="20104099"/>
                  </a:moveTo>
                  <a:lnTo>
                    <a:pt x="602156" y="0"/>
                  </a:lnTo>
                  <a:lnTo>
                    <a:pt x="0" y="0"/>
                  </a:lnTo>
                  <a:lnTo>
                    <a:pt x="0" y="20104099"/>
                  </a:lnTo>
                  <a:lnTo>
                    <a:pt x="602156" y="20104099"/>
                  </a:lnTo>
                  <a:close/>
                </a:path>
              </a:pathLst>
            </a:custGeom>
            <a:solidFill>
              <a:srgbClr val="6C50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45666" y="5397772"/>
            <a:ext cx="497840" cy="93237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3610"/>
              </a:lnSpc>
            </a:pP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UNIVERSITÉ</a:t>
            </a:r>
            <a:r>
              <a:rPr sz="305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LIBRE</a:t>
            </a:r>
            <a:r>
              <a:rPr sz="305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305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BRUXELLES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305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65" dirty="0">
                <a:solidFill>
                  <a:srgbClr val="FFFFFF"/>
                </a:solidFill>
                <a:latin typeface="Calibri"/>
                <a:cs typeface="Calibri"/>
              </a:rPr>
              <a:t>FACULTÉ </a:t>
            </a:r>
            <a:r>
              <a:rPr sz="3050" b="1" dirty="0">
                <a:solidFill>
                  <a:srgbClr val="FFFFFF"/>
                </a:solidFill>
                <a:latin typeface="Calibri"/>
                <a:cs typeface="Calibri"/>
              </a:rPr>
              <a:t>DES</a:t>
            </a:r>
            <a:r>
              <a:rPr sz="305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50" b="1" spc="-10" dirty="0">
                <a:solidFill>
                  <a:srgbClr val="FFFFFF"/>
                </a:solidFill>
                <a:latin typeface="Calibri"/>
                <a:cs typeface="Calibri"/>
              </a:rPr>
              <a:t>SCIENCES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36953" y="406905"/>
            <a:ext cx="4340860" cy="11531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02665" marR="5080" indent="-990600">
              <a:lnSpc>
                <a:spcPct val="100000"/>
              </a:lnSpc>
              <a:spcBef>
                <a:spcPts val="105"/>
              </a:spcBef>
            </a:pPr>
            <a:r>
              <a:rPr sz="3700" b="1" dirty="0">
                <a:solidFill>
                  <a:srgbClr val="272558"/>
                </a:solidFill>
                <a:latin typeface="Calibri"/>
                <a:cs typeface="Calibri"/>
              </a:rPr>
              <a:t>Induction</a:t>
            </a:r>
            <a:r>
              <a:rPr sz="3700" b="1" spc="-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700" b="1" dirty="0">
                <a:solidFill>
                  <a:srgbClr val="272558"/>
                </a:solidFill>
                <a:latin typeface="Calibri"/>
                <a:cs typeface="Calibri"/>
              </a:rPr>
              <a:t>et</a:t>
            </a:r>
            <a:r>
              <a:rPr sz="3700" b="1" spc="-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700" b="1" spc="-10" dirty="0">
                <a:solidFill>
                  <a:srgbClr val="272558"/>
                </a:solidFill>
                <a:latin typeface="Calibri"/>
                <a:cs typeface="Calibri"/>
              </a:rPr>
              <a:t>lévitation magnétique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4484" y="11242490"/>
            <a:ext cx="6672580" cy="1224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Mesures</a:t>
            </a:r>
            <a:r>
              <a:rPr sz="2600" b="1" u="sng" spc="-7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de</a:t>
            </a:r>
            <a:r>
              <a:rPr sz="2600" b="1" u="sng" spc="-9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l'induction</a:t>
            </a:r>
            <a:r>
              <a:rPr sz="2600" b="1" u="sng" spc="-7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électromagnétique</a:t>
            </a:r>
            <a:endParaRPr sz="2600">
              <a:latin typeface="Calibri"/>
              <a:cs typeface="Calibri"/>
            </a:endParaRPr>
          </a:p>
          <a:p>
            <a:pPr marL="841375" marR="5080">
              <a:lnSpc>
                <a:spcPct val="102600"/>
              </a:lnSpc>
              <a:spcBef>
                <a:spcPts val="1880"/>
              </a:spcBef>
            </a:pPr>
            <a:r>
              <a:rPr sz="18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Objectif</a:t>
            </a:r>
            <a:r>
              <a:rPr sz="1800" b="1" i="1" u="sng" spc="75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 </a:t>
            </a:r>
            <a:r>
              <a:rPr sz="1800" b="1" i="1" spc="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r>
              <a:rPr sz="1800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Analyser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comportement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du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induit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272558"/>
                </a:solidFill>
                <a:latin typeface="Calibri"/>
                <a:cs typeface="Calibri"/>
              </a:rPr>
              <a:t>dans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1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bobine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supérieure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en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fonction</a:t>
            </a:r>
            <a:r>
              <a:rPr sz="1800" b="1" spc="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des</a:t>
            </a:r>
            <a:r>
              <a:rPr sz="1800" b="1" spc="1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fréquences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du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93731" y="12442377"/>
            <a:ext cx="209867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générateur</a:t>
            </a:r>
            <a:r>
              <a:rPr sz="180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alternatif.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93731" y="13286568"/>
            <a:ext cx="103441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Résultats</a:t>
            </a:r>
            <a:r>
              <a:rPr sz="1800" b="1" i="1" spc="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21284" y="13849664"/>
            <a:ext cx="370459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Courant</a:t>
            </a:r>
            <a:r>
              <a:rPr sz="180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proportionnel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1800" b="1" spc="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fréquence.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1284" y="14412380"/>
            <a:ext cx="241236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Comportement</a:t>
            </a:r>
            <a:r>
              <a:rPr sz="1800" b="1" spc="1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linéaire</a:t>
            </a:r>
            <a:r>
              <a:rPr sz="1800" b="1" spc="1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272558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3731" y="15256571"/>
            <a:ext cx="4958715" cy="8680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i="1" u="sng" dirty="0">
                <a:solidFill>
                  <a:srgbClr val="6F2F9F"/>
                </a:solidFill>
                <a:uFill>
                  <a:solidFill>
                    <a:srgbClr val="6F2F9F"/>
                  </a:solidFill>
                </a:uFill>
                <a:latin typeface="Calibri"/>
                <a:cs typeface="Calibri"/>
              </a:rPr>
              <a:t>Conclusion</a:t>
            </a:r>
            <a:r>
              <a:rPr sz="1800" b="1" i="1" spc="1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1800" b="1" i="1" spc="-50" dirty="0">
                <a:solidFill>
                  <a:srgbClr val="6F2F9F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 indent="52705">
              <a:lnSpc>
                <a:spcPts val="2220"/>
              </a:lnSpc>
              <a:spcBef>
                <a:spcPts val="75"/>
              </a:spcBef>
            </a:pP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Les</a:t>
            </a:r>
            <a:r>
              <a:rPr sz="1800" b="1" spc="13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données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expérimentales</a:t>
            </a:r>
            <a:r>
              <a:rPr sz="1800" b="1" spc="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valident</a:t>
            </a:r>
            <a:r>
              <a:rPr sz="1800" b="1" spc="1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1800" b="1" spc="12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théorie</a:t>
            </a:r>
            <a:r>
              <a:rPr sz="1800" b="1" spc="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272558"/>
                </a:solidFill>
                <a:latin typeface="Calibri"/>
                <a:cs typeface="Calibri"/>
              </a:rPr>
              <a:t>de </a:t>
            </a:r>
            <a:r>
              <a:rPr sz="1800" b="1" dirty="0">
                <a:solidFill>
                  <a:srgbClr val="272558"/>
                </a:solidFill>
                <a:latin typeface="Calibri"/>
                <a:cs typeface="Calibri"/>
              </a:rPr>
              <a:t>l'induction</a:t>
            </a:r>
            <a:r>
              <a:rPr sz="1800" b="1" spc="1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72558"/>
                </a:solidFill>
                <a:latin typeface="Calibri"/>
                <a:cs typeface="Calibri"/>
              </a:rPr>
              <a:t>électromagnétique.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52637" y="13912592"/>
            <a:ext cx="457200" cy="760730"/>
            <a:chOff x="1652637" y="13912592"/>
            <a:chExt cx="457200" cy="760730"/>
          </a:xfrm>
        </p:grpSpPr>
        <p:sp>
          <p:nvSpPr>
            <p:cNvPr id="14" name="object 14"/>
            <p:cNvSpPr/>
            <p:nvPr/>
          </p:nvSpPr>
          <p:spPr>
            <a:xfrm>
              <a:off x="1654859" y="14446704"/>
              <a:ext cx="452755" cy="224790"/>
            </a:xfrm>
            <a:custGeom>
              <a:avLst/>
              <a:gdLst/>
              <a:ahLst/>
              <a:cxnLst/>
              <a:rect l="l" t="t" r="r" b="b"/>
              <a:pathLst>
                <a:path w="452755" h="224790">
                  <a:moveTo>
                    <a:pt x="340606" y="0"/>
                  </a:moveTo>
                  <a:lnTo>
                    <a:pt x="340606" y="56084"/>
                  </a:lnTo>
                  <a:lnTo>
                    <a:pt x="0" y="56084"/>
                  </a:lnTo>
                  <a:lnTo>
                    <a:pt x="0" y="168193"/>
                  </a:lnTo>
                  <a:lnTo>
                    <a:pt x="340606" y="168193"/>
                  </a:lnTo>
                  <a:lnTo>
                    <a:pt x="340606" y="224218"/>
                  </a:lnTo>
                  <a:lnTo>
                    <a:pt x="452715" y="112109"/>
                  </a:lnTo>
                  <a:lnTo>
                    <a:pt x="340606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54859" y="14446704"/>
              <a:ext cx="452755" cy="224790"/>
            </a:xfrm>
            <a:custGeom>
              <a:avLst/>
              <a:gdLst/>
              <a:ahLst/>
              <a:cxnLst/>
              <a:rect l="l" t="t" r="r" b="b"/>
              <a:pathLst>
                <a:path w="452755" h="224790">
                  <a:moveTo>
                    <a:pt x="0" y="56084"/>
                  </a:moveTo>
                  <a:lnTo>
                    <a:pt x="340606" y="56084"/>
                  </a:lnTo>
                  <a:lnTo>
                    <a:pt x="340606" y="0"/>
                  </a:lnTo>
                  <a:lnTo>
                    <a:pt x="452715" y="112109"/>
                  </a:lnTo>
                  <a:lnTo>
                    <a:pt x="340606" y="224218"/>
                  </a:lnTo>
                  <a:lnTo>
                    <a:pt x="340606" y="168193"/>
                  </a:lnTo>
                  <a:lnTo>
                    <a:pt x="0" y="168193"/>
                  </a:lnTo>
                  <a:lnTo>
                    <a:pt x="0" y="56084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54859" y="13914815"/>
              <a:ext cx="452755" cy="220345"/>
            </a:xfrm>
            <a:custGeom>
              <a:avLst/>
              <a:gdLst/>
              <a:ahLst/>
              <a:cxnLst/>
              <a:rect l="l" t="t" r="r" b="b"/>
              <a:pathLst>
                <a:path w="452755" h="220344">
                  <a:moveTo>
                    <a:pt x="342833" y="0"/>
                  </a:moveTo>
                  <a:lnTo>
                    <a:pt x="342833" y="54970"/>
                  </a:lnTo>
                  <a:lnTo>
                    <a:pt x="0" y="54970"/>
                  </a:lnTo>
                  <a:lnTo>
                    <a:pt x="0" y="164853"/>
                  </a:lnTo>
                  <a:lnTo>
                    <a:pt x="342833" y="164853"/>
                  </a:lnTo>
                  <a:lnTo>
                    <a:pt x="342833" y="219823"/>
                  </a:lnTo>
                  <a:lnTo>
                    <a:pt x="452715" y="109941"/>
                  </a:lnTo>
                  <a:lnTo>
                    <a:pt x="34283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54859" y="13914815"/>
              <a:ext cx="452755" cy="220345"/>
            </a:xfrm>
            <a:custGeom>
              <a:avLst/>
              <a:gdLst/>
              <a:ahLst/>
              <a:cxnLst/>
              <a:rect l="l" t="t" r="r" b="b"/>
              <a:pathLst>
                <a:path w="452755" h="220344">
                  <a:moveTo>
                    <a:pt x="0" y="54970"/>
                  </a:moveTo>
                  <a:lnTo>
                    <a:pt x="342833" y="54970"/>
                  </a:lnTo>
                  <a:lnTo>
                    <a:pt x="342833" y="0"/>
                  </a:lnTo>
                  <a:lnTo>
                    <a:pt x="452715" y="109941"/>
                  </a:lnTo>
                  <a:lnTo>
                    <a:pt x="342833" y="219823"/>
                  </a:lnTo>
                  <a:lnTo>
                    <a:pt x="342833" y="164853"/>
                  </a:lnTo>
                  <a:lnTo>
                    <a:pt x="0" y="164853"/>
                  </a:lnTo>
                  <a:lnTo>
                    <a:pt x="0" y="54970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01075" y="11230505"/>
            <a:ext cx="5894070" cy="1507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Mesures</a:t>
            </a:r>
            <a:r>
              <a:rPr sz="2600" b="1" u="sng" spc="-7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de</a:t>
            </a:r>
            <a:r>
              <a:rPr sz="2600" b="1" u="sng" spc="-95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la</a:t>
            </a:r>
            <a:r>
              <a:rPr sz="2600" b="1" u="sng" spc="-95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force</a:t>
            </a:r>
            <a:r>
              <a:rPr sz="2600" b="1" u="sng" spc="-9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magnétique</a:t>
            </a:r>
            <a:endParaRPr sz="2600">
              <a:latin typeface="Calibri"/>
              <a:cs typeface="Calibri"/>
            </a:endParaRPr>
          </a:p>
          <a:p>
            <a:pPr marL="238125" marR="5080">
              <a:lnSpc>
                <a:spcPct val="102600"/>
              </a:lnSpc>
              <a:spcBef>
                <a:spcPts val="1895"/>
              </a:spcBef>
            </a:pPr>
            <a:r>
              <a:rPr sz="1800" b="1" i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Objectif</a:t>
            </a:r>
            <a:r>
              <a:rPr sz="1800" b="1" i="1" spc="85" dirty="0">
                <a:solidFill>
                  <a:srgbClr val="EF8550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EF8550"/>
                </a:solidFill>
                <a:latin typeface="Calibri"/>
                <a:cs typeface="Calibri"/>
              </a:rPr>
              <a:t>:</a:t>
            </a:r>
            <a:r>
              <a:rPr sz="1800" b="1" i="1" spc="65" dirty="0">
                <a:solidFill>
                  <a:srgbClr val="EF8550"/>
                </a:solidFill>
                <a:latin typeface="Calibri"/>
                <a:cs typeface="Calibri"/>
              </a:rPr>
              <a:t> 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Analyser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le</a:t>
            </a:r>
            <a:r>
              <a:rPr sz="1800" b="1" spc="7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caractère</a:t>
            </a:r>
            <a:r>
              <a:rPr sz="1800" b="1" spc="4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1800" b="1" spc="7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hauteur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1800" b="1" spc="7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lévitation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en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fonction</a:t>
            </a:r>
            <a:r>
              <a:rPr sz="1800" b="1" spc="5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6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masse</a:t>
            </a:r>
            <a:r>
              <a:rPr sz="1800" b="1" spc="4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en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lévitation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et</a:t>
            </a:r>
            <a:r>
              <a:rPr sz="1800" b="1" spc="9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comparer</a:t>
            </a:r>
            <a:r>
              <a:rPr sz="1800" b="1" spc="8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avec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996600"/>
                </a:solidFill>
                <a:latin typeface="Calibri"/>
                <a:cs typeface="Calibri"/>
              </a:rPr>
              <a:t>la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théorie.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26583" y="13558403"/>
            <a:ext cx="1036319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i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Résultats</a:t>
            </a:r>
            <a:r>
              <a:rPr sz="1800" b="1" i="1" spc="60" dirty="0">
                <a:solidFill>
                  <a:srgbClr val="EF855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9933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54136" y="14120972"/>
            <a:ext cx="3319145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Données</a:t>
            </a:r>
            <a:r>
              <a:rPr sz="1800" b="1" spc="15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relativement</a:t>
            </a:r>
            <a:r>
              <a:rPr sz="1800" b="1" spc="13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dispersées.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28736" y="14683686"/>
            <a:ext cx="186563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Tendance</a:t>
            </a:r>
            <a:r>
              <a:rPr sz="1800" b="1" spc="3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en</a:t>
            </a:r>
            <a:r>
              <a:rPr sz="1800" b="1" spc="4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m</a:t>
            </a:r>
            <a:r>
              <a:rPr sz="1875" b="1" baseline="24444" dirty="0">
                <a:solidFill>
                  <a:srgbClr val="996600"/>
                </a:solidFill>
                <a:latin typeface="Calibri"/>
                <a:cs typeface="Calibri"/>
              </a:rPr>
              <a:t>-</a:t>
            </a:r>
            <a:r>
              <a:rPr sz="1875" b="1" spc="-37" baseline="24444" dirty="0">
                <a:solidFill>
                  <a:srgbClr val="996600"/>
                </a:solidFill>
                <a:latin typeface="Calibri"/>
                <a:cs typeface="Calibri"/>
              </a:rPr>
              <a:t>1/4</a:t>
            </a:r>
            <a:endParaRPr sz="1875" baseline="24444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26583" y="15246725"/>
            <a:ext cx="5311775" cy="8680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b="1" i="1" u="sng" dirty="0">
                <a:solidFill>
                  <a:srgbClr val="EF8550"/>
                </a:solidFill>
                <a:uFill>
                  <a:solidFill>
                    <a:srgbClr val="EF8550"/>
                  </a:solidFill>
                </a:uFill>
                <a:latin typeface="Calibri"/>
                <a:cs typeface="Calibri"/>
              </a:rPr>
              <a:t>Conclusion</a:t>
            </a:r>
            <a:r>
              <a:rPr sz="1800" b="1" i="1" spc="165" dirty="0">
                <a:solidFill>
                  <a:srgbClr val="EF855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EF855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2600"/>
              </a:lnSpc>
            </a:pP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Dans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10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limite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des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erreurs</a:t>
            </a:r>
            <a:r>
              <a:rPr sz="180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expérimentales,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les</a:t>
            </a:r>
            <a:r>
              <a:rPr sz="1800" b="1" spc="11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données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semblent</a:t>
            </a:r>
            <a:r>
              <a:rPr sz="1800" b="1" spc="10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s'accorder</a:t>
            </a:r>
            <a:r>
              <a:rPr sz="1800" b="1" spc="9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avec</a:t>
            </a:r>
            <a:r>
              <a:rPr sz="180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996600"/>
                </a:solidFill>
                <a:latin typeface="Calibri"/>
                <a:cs typeface="Calibri"/>
              </a:rPr>
              <a:t>la</a:t>
            </a:r>
            <a:r>
              <a:rPr sz="1800" b="1" spc="8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996600"/>
                </a:solidFill>
                <a:latin typeface="Calibri"/>
                <a:cs typeface="Calibri"/>
              </a:rPr>
              <a:t>théorie.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13501" y="4668335"/>
            <a:ext cx="13519785" cy="10290810"/>
            <a:chOff x="1013501" y="4668335"/>
            <a:chExt cx="13519785" cy="10290810"/>
          </a:xfrm>
        </p:grpSpPr>
        <p:sp>
          <p:nvSpPr>
            <p:cNvPr id="24" name="object 24"/>
            <p:cNvSpPr/>
            <p:nvPr/>
          </p:nvSpPr>
          <p:spPr>
            <a:xfrm>
              <a:off x="8608223" y="14732458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340606" y="0"/>
                  </a:moveTo>
                  <a:lnTo>
                    <a:pt x="340606" y="56025"/>
                  </a:lnTo>
                  <a:lnTo>
                    <a:pt x="0" y="56025"/>
                  </a:lnTo>
                  <a:lnTo>
                    <a:pt x="0" y="168134"/>
                  </a:lnTo>
                  <a:lnTo>
                    <a:pt x="340606" y="168134"/>
                  </a:lnTo>
                  <a:lnTo>
                    <a:pt x="340606" y="224160"/>
                  </a:lnTo>
                  <a:lnTo>
                    <a:pt x="452715" y="112109"/>
                  </a:lnTo>
                  <a:lnTo>
                    <a:pt x="340606" y="0"/>
                  </a:lnTo>
                  <a:close/>
                </a:path>
              </a:pathLst>
            </a:custGeom>
            <a:solidFill>
              <a:srgbClr val="EF8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608223" y="14732458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0" y="56025"/>
                  </a:moveTo>
                  <a:lnTo>
                    <a:pt x="340606" y="56025"/>
                  </a:lnTo>
                  <a:lnTo>
                    <a:pt x="340606" y="0"/>
                  </a:lnTo>
                  <a:lnTo>
                    <a:pt x="452715" y="112109"/>
                  </a:lnTo>
                  <a:lnTo>
                    <a:pt x="340606" y="224160"/>
                  </a:lnTo>
                  <a:lnTo>
                    <a:pt x="340606" y="168134"/>
                  </a:lnTo>
                  <a:lnTo>
                    <a:pt x="0" y="168134"/>
                  </a:lnTo>
                  <a:lnTo>
                    <a:pt x="0" y="56025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608223" y="14196173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340606" y="0"/>
                  </a:moveTo>
                  <a:lnTo>
                    <a:pt x="340606" y="56025"/>
                  </a:lnTo>
                  <a:lnTo>
                    <a:pt x="0" y="56025"/>
                  </a:lnTo>
                  <a:lnTo>
                    <a:pt x="0" y="168134"/>
                  </a:lnTo>
                  <a:lnTo>
                    <a:pt x="340606" y="168134"/>
                  </a:lnTo>
                  <a:lnTo>
                    <a:pt x="340606" y="224160"/>
                  </a:lnTo>
                  <a:lnTo>
                    <a:pt x="452715" y="112109"/>
                  </a:lnTo>
                  <a:lnTo>
                    <a:pt x="340606" y="0"/>
                  </a:lnTo>
                  <a:close/>
                </a:path>
              </a:pathLst>
            </a:custGeom>
            <a:solidFill>
              <a:srgbClr val="EF8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08223" y="14196173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0" y="56025"/>
                  </a:moveTo>
                  <a:lnTo>
                    <a:pt x="340606" y="56025"/>
                  </a:lnTo>
                  <a:lnTo>
                    <a:pt x="340606" y="0"/>
                  </a:lnTo>
                  <a:lnTo>
                    <a:pt x="452715" y="112109"/>
                  </a:lnTo>
                  <a:lnTo>
                    <a:pt x="340606" y="224160"/>
                  </a:lnTo>
                  <a:lnTo>
                    <a:pt x="340606" y="168134"/>
                  </a:lnTo>
                  <a:lnTo>
                    <a:pt x="0" y="168134"/>
                  </a:lnTo>
                  <a:lnTo>
                    <a:pt x="0" y="56025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15724" y="10804560"/>
              <a:ext cx="13515340" cy="80010"/>
            </a:xfrm>
            <a:custGeom>
              <a:avLst/>
              <a:gdLst/>
              <a:ahLst/>
              <a:cxnLst/>
              <a:rect l="l" t="t" r="r" b="b"/>
              <a:pathLst>
                <a:path w="13515340" h="80009">
                  <a:moveTo>
                    <a:pt x="13514725" y="0"/>
                  </a:moveTo>
                  <a:lnTo>
                    <a:pt x="0" y="0"/>
                  </a:lnTo>
                  <a:lnTo>
                    <a:pt x="0" y="79607"/>
                  </a:lnTo>
                  <a:lnTo>
                    <a:pt x="13514725" y="79607"/>
                  </a:lnTo>
                  <a:lnTo>
                    <a:pt x="135147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15724" y="10804560"/>
              <a:ext cx="13515340" cy="80010"/>
            </a:xfrm>
            <a:custGeom>
              <a:avLst/>
              <a:gdLst/>
              <a:ahLst/>
              <a:cxnLst/>
              <a:rect l="l" t="t" r="r" b="b"/>
              <a:pathLst>
                <a:path w="13515340" h="80009">
                  <a:moveTo>
                    <a:pt x="0" y="79607"/>
                  </a:moveTo>
                  <a:lnTo>
                    <a:pt x="13514725" y="79607"/>
                  </a:lnTo>
                  <a:lnTo>
                    <a:pt x="13514725" y="0"/>
                  </a:lnTo>
                  <a:lnTo>
                    <a:pt x="0" y="0"/>
                  </a:lnTo>
                  <a:lnTo>
                    <a:pt x="0" y="79607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4429" y="4668335"/>
              <a:ext cx="4527158" cy="33627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25955" y="4672731"/>
              <a:ext cx="2692091" cy="319034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379613" y="2106565"/>
            <a:ext cx="10531475" cy="18376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19295" marR="2619375" indent="68580" algn="ctr">
              <a:lnSpc>
                <a:spcPct val="122000"/>
              </a:lnSpc>
              <a:spcBef>
                <a:spcPts val="95"/>
              </a:spcBef>
            </a:pPr>
            <a:r>
              <a:rPr sz="2200" b="1" spc="-35" dirty="0">
                <a:solidFill>
                  <a:srgbClr val="37AB51"/>
                </a:solidFill>
                <a:latin typeface="Calibri"/>
                <a:cs typeface="Calibri"/>
              </a:rPr>
              <a:t>FACULTÉ</a:t>
            </a:r>
            <a:r>
              <a:rPr sz="2200" b="1" spc="-50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7AB51"/>
                </a:solidFill>
                <a:latin typeface="Calibri"/>
                <a:cs typeface="Calibri"/>
              </a:rPr>
              <a:t>DES</a:t>
            </a:r>
            <a:r>
              <a:rPr sz="2200" b="1" spc="-50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7AB51"/>
                </a:solidFill>
                <a:latin typeface="Calibri"/>
                <a:cs typeface="Calibri"/>
              </a:rPr>
              <a:t>SCIENCES DÉPARTEMENT</a:t>
            </a:r>
            <a:r>
              <a:rPr sz="2200" b="1" spc="-65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7AB51"/>
                </a:solidFill>
                <a:latin typeface="Calibri"/>
                <a:cs typeface="Calibri"/>
              </a:rPr>
              <a:t>DE</a:t>
            </a:r>
            <a:r>
              <a:rPr sz="2200" b="1" spc="-45" dirty="0">
                <a:solidFill>
                  <a:srgbClr val="37AB51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7AB51"/>
                </a:solidFill>
                <a:latin typeface="Calibri"/>
                <a:cs typeface="Calibri"/>
              </a:rPr>
              <a:t>PHYSIQUE</a:t>
            </a:r>
            <a:endParaRPr sz="2200" dirty="0">
              <a:latin typeface="Calibri"/>
              <a:cs typeface="Calibri"/>
            </a:endParaRPr>
          </a:p>
          <a:p>
            <a:pPr marL="1892935" algn="ctr">
              <a:lnSpc>
                <a:spcPct val="100000"/>
              </a:lnSpc>
              <a:spcBef>
                <a:spcPts val="555"/>
              </a:spcBef>
            </a:pP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Joas</a:t>
            </a:r>
            <a:r>
              <a:rPr sz="2050" b="1" i="1" spc="-75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KANYINDA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35" dirty="0">
                <a:solidFill>
                  <a:srgbClr val="E9436F"/>
                </a:solidFill>
                <a:latin typeface="Calibri"/>
                <a:cs typeface="Calibri"/>
              </a:rPr>
              <a:t>WA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KANYINDA,</a:t>
            </a:r>
            <a:r>
              <a:rPr sz="2050" b="1" i="1" spc="-4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Martin</a:t>
            </a:r>
            <a:r>
              <a:rPr sz="2050" b="1" i="1" spc="-4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30" dirty="0">
                <a:solidFill>
                  <a:srgbClr val="E9436F"/>
                </a:solidFill>
                <a:latin typeface="Calibri"/>
                <a:cs typeface="Calibri"/>
              </a:rPr>
              <a:t>VANDERCAMMEN</a:t>
            </a:r>
            <a:r>
              <a:rPr sz="2050" b="1" i="1" spc="-6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dirty="0">
                <a:solidFill>
                  <a:srgbClr val="E9436F"/>
                </a:solidFill>
                <a:latin typeface="Calibri"/>
                <a:cs typeface="Calibri"/>
              </a:rPr>
              <a:t>et</a:t>
            </a:r>
            <a:r>
              <a:rPr sz="2050" b="1" i="1" spc="-50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20" dirty="0">
                <a:solidFill>
                  <a:srgbClr val="E9436F"/>
                </a:solidFill>
                <a:latin typeface="Calibri"/>
                <a:cs typeface="Calibri"/>
              </a:rPr>
              <a:t>Alexandre</a:t>
            </a:r>
            <a:r>
              <a:rPr sz="2050" b="1" i="1" spc="-65" dirty="0">
                <a:solidFill>
                  <a:srgbClr val="E9436F"/>
                </a:solidFill>
                <a:latin typeface="Calibri"/>
                <a:cs typeface="Calibri"/>
              </a:rPr>
              <a:t> </a:t>
            </a:r>
            <a:r>
              <a:rPr sz="2050" b="1" i="1" spc="-10" dirty="0">
                <a:solidFill>
                  <a:srgbClr val="E9436F"/>
                </a:solidFill>
                <a:latin typeface="Calibri"/>
                <a:cs typeface="Calibri"/>
              </a:rPr>
              <a:t>SCHMITZ</a:t>
            </a:r>
            <a:endParaRPr sz="2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sz="2750" b="1" u="sng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Applications</a:t>
            </a:r>
            <a:r>
              <a:rPr sz="2750" b="1" u="sng" spc="-25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à</a:t>
            </a:r>
            <a:r>
              <a:rPr sz="2750" b="1" u="sng" spc="-10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la</a:t>
            </a:r>
            <a:r>
              <a:rPr sz="2750" b="1" u="sng" spc="-10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vie</a:t>
            </a:r>
            <a:r>
              <a:rPr sz="2750" b="1" u="sng" spc="-5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 </a:t>
            </a:r>
            <a:r>
              <a:rPr sz="2750" b="1" u="sng" spc="-10" dirty="0">
                <a:solidFill>
                  <a:srgbClr val="272558"/>
                </a:solidFill>
                <a:uFill>
                  <a:solidFill>
                    <a:srgbClr val="272558"/>
                  </a:solidFill>
                </a:uFill>
                <a:latin typeface="Calibri"/>
                <a:cs typeface="Calibri"/>
              </a:rPr>
              <a:t>quotidienne</a:t>
            </a:r>
            <a:endParaRPr sz="275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60583" y="4176460"/>
            <a:ext cx="3590925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90"/>
              </a:spcBef>
              <a:buFont typeface="Wingdings"/>
              <a:buChar char=""/>
              <a:tabLst>
                <a:tab pos="275590" algn="l"/>
              </a:tabLst>
            </a:pPr>
            <a:r>
              <a:rPr sz="2050" spc="-10" dirty="0">
                <a:solidFill>
                  <a:srgbClr val="272558"/>
                </a:solidFill>
                <a:latin typeface="Arial MT"/>
                <a:cs typeface="Arial MT"/>
              </a:rPr>
              <a:t>Train</a:t>
            </a:r>
            <a:r>
              <a:rPr sz="2050" spc="-95" dirty="0">
                <a:solidFill>
                  <a:srgbClr val="272558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272558"/>
                </a:solidFill>
                <a:latin typeface="Arial MT"/>
                <a:cs typeface="Arial MT"/>
              </a:rPr>
              <a:t>à</a:t>
            </a:r>
            <a:r>
              <a:rPr sz="2050" spc="-90" dirty="0">
                <a:solidFill>
                  <a:srgbClr val="272558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272558"/>
                </a:solidFill>
                <a:latin typeface="Arial MT"/>
                <a:cs typeface="Arial MT"/>
              </a:rPr>
              <a:t>lévitation</a:t>
            </a:r>
            <a:r>
              <a:rPr sz="2050" spc="-90" dirty="0">
                <a:solidFill>
                  <a:srgbClr val="272558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272558"/>
                </a:solidFill>
                <a:latin typeface="Arial MT"/>
                <a:cs typeface="Arial MT"/>
              </a:rPr>
              <a:t>magnétique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30956" y="4196561"/>
            <a:ext cx="6871334" cy="337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5590" indent="-262890">
              <a:lnSpc>
                <a:spcPct val="100000"/>
              </a:lnSpc>
              <a:spcBef>
                <a:spcPts val="90"/>
              </a:spcBef>
              <a:buFont typeface="Wingdings"/>
              <a:buChar char=""/>
              <a:tabLst>
                <a:tab pos="275590" algn="l"/>
                <a:tab pos="4830445" algn="l"/>
              </a:tabLst>
            </a:pPr>
            <a:r>
              <a:rPr sz="3075" b="1" baseline="2710" dirty="0">
                <a:solidFill>
                  <a:srgbClr val="272558"/>
                </a:solidFill>
                <a:latin typeface="Calibri"/>
                <a:cs typeface="Calibri"/>
              </a:rPr>
              <a:t>Cuisson</a:t>
            </a:r>
            <a:r>
              <a:rPr sz="3075" b="1" spc="-112" baseline="27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075" b="1" baseline="2710" dirty="0">
                <a:solidFill>
                  <a:srgbClr val="272558"/>
                </a:solidFill>
                <a:latin typeface="Calibri"/>
                <a:cs typeface="Calibri"/>
              </a:rPr>
              <a:t>avec</a:t>
            </a:r>
            <a:r>
              <a:rPr sz="3075" b="1" spc="-112" baseline="27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075" b="1" spc="-15" baseline="2710" dirty="0">
                <a:solidFill>
                  <a:srgbClr val="272558"/>
                </a:solidFill>
                <a:latin typeface="Calibri"/>
                <a:cs typeface="Calibri"/>
              </a:rPr>
              <a:t>plaque</a:t>
            </a:r>
            <a:r>
              <a:rPr sz="3075" b="1" spc="-112" baseline="27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075" b="1" baseline="2710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3075" b="1" spc="-89" baseline="271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3075" b="1" spc="-15" baseline="2710" dirty="0">
                <a:solidFill>
                  <a:srgbClr val="272558"/>
                </a:solidFill>
                <a:latin typeface="Calibri"/>
                <a:cs typeface="Calibri"/>
              </a:rPr>
              <a:t>induction</a:t>
            </a:r>
            <a:r>
              <a:rPr sz="3075" b="1" baseline="2710" dirty="0">
                <a:solidFill>
                  <a:srgbClr val="272558"/>
                </a:solidFill>
                <a:latin typeface="Calibri"/>
                <a:cs typeface="Calibri"/>
              </a:rPr>
              <a:t>	</a:t>
            </a:r>
            <a:r>
              <a:rPr sz="2050" spc="-25" dirty="0">
                <a:solidFill>
                  <a:srgbClr val="272558"/>
                </a:solidFill>
                <a:latin typeface="Wingdings"/>
                <a:cs typeface="Wingdings"/>
              </a:rPr>
              <a:t></a:t>
            </a:r>
            <a:r>
              <a:rPr sz="2050" spc="-260" dirty="0">
                <a:solidFill>
                  <a:srgbClr val="272558"/>
                </a:solidFill>
                <a:latin typeface="Times New Roman"/>
                <a:cs typeface="Times New Roman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Chargeur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sans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fil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86923" y="8384344"/>
            <a:ext cx="4142104" cy="1576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10"/>
              </a:spcBef>
            </a:pP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L'induction</a:t>
            </a:r>
            <a:r>
              <a:rPr sz="2050" b="1" spc="-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électromagnétique</a:t>
            </a:r>
            <a:r>
              <a:rPr sz="2050" b="1" spc="-1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permet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2050" b="1" spc="-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générer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un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champ</a:t>
            </a:r>
            <a:r>
              <a:rPr sz="2050" b="1" spc="-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magnétique variable</a:t>
            </a:r>
            <a:r>
              <a:rPr sz="2050" b="1" spc="-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qui</a:t>
            </a:r>
            <a:r>
              <a:rPr sz="2050" b="1" spc="-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chauffe</a:t>
            </a:r>
            <a:r>
              <a:rPr sz="2050" b="1" spc="-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directement</a:t>
            </a:r>
            <a:r>
              <a:rPr sz="2050" b="1" spc="-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les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casseroles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constituées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d'un</a:t>
            </a:r>
            <a:r>
              <a:rPr sz="2050" b="1" spc="2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matériau adapté</a:t>
            </a:r>
            <a:r>
              <a:rPr sz="2050" b="1" spc="-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(ferromagnétique).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85159" y="8383493"/>
            <a:ext cx="5295900" cy="1576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10"/>
              </a:spcBef>
            </a:pP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La</a:t>
            </a:r>
            <a:r>
              <a:rPr sz="2050" b="1" spc="-9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lévitation</a:t>
            </a:r>
            <a:r>
              <a:rPr sz="2050" b="1" spc="-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permet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de</a:t>
            </a:r>
            <a:r>
              <a:rPr sz="2050" b="1" spc="-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créer</a:t>
            </a:r>
            <a:r>
              <a:rPr sz="2050" b="1" spc="-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des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champs</a:t>
            </a:r>
            <a:r>
              <a:rPr sz="2050" b="1" spc="-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magnétiques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qui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soulèvent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et</a:t>
            </a:r>
            <a:r>
              <a:rPr sz="2050" b="1" spc="-6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propulsent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les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trains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sans</a:t>
            </a:r>
            <a:r>
              <a:rPr sz="2050" b="1" spc="-9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contact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avec</a:t>
            </a:r>
            <a:r>
              <a:rPr sz="2050" b="1" spc="-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les</a:t>
            </a:r>
            <a:r>
              <a:rPr sz="2050" b="1" spc="-10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rails.</a:t>
            </a:r>
            <a:r>
              <a:rPr sz="2050" b="1" spc="-8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Cela</a:t>
            </a:r>
            <a:r>
              <a:rPr sz="2050" b="1" spc="-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réduit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la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friction,</a:t>
            </a:r>
            <a:r>
              <a:rPr sz="2050" b="1" spc="-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permettant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des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vitesses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élevées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et</a:t>
            </a:r>
            <a:r>
              <a:rPr sz="2050" b="1" spc="-5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un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fonctionnement</a:t>
            </a:r>
            <a:r>
              <a:rPr sz="2050" b="1" spc="-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silencieux.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57992" y="8299953"/>
            <a:ext cx="2557780" cy="25044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14"/>
              </a:spcBef>
            </a:pP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L'induction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électromagnétique</a:t>
            </a:r>
            <a:r>
              <a:rPr sz="2050" b="1" spc="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est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également</a:t>
            </a:r>
            <a:r>
              <a:rPr sz="2050" b="1" spc="-3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utilisée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dans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les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chargeurs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sans</a:t>
            </a:r>
            <a:r>
              <a:rPr sz="2050" b="1" spc="-4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fil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pour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transférer</a:t>
            </a:r>
            <a:r>
              <a:rPr sz="2050" b="1" spc="-6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5" dirty="0">
                <a:solidFill>
                  <a:srgbClr val="272558"/>
                </a:solidFill>
                <a:latin typeface="Calibri"/>
                <a:cs typeface="Calibri"/>
              </a:rPr>
              <a:t>de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l'énergie</a:t>
            </a:r>
            <a:r>
              <a:rPr sz="2050" b="1" spc="-4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entre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le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chargeur</a:t>
            </a:r>
            <a:r>
              <a:rPr sz="2050" b="1" spc="-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et</a:t>
            </a:r>
            <a:r>
              <a:rPr sz="2050" b="1" spc="-10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10" dirty="0">
                <a:solidFill>
                  <a:srgbClr val="272558"/>
                </a:solidFill>
                <a:latin typeface="Calibri"/>
                <a:cs typeface="Calibri"/>
              </a:rPr>
              <a:t>l'appareil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sans</a:t>
            </a:r>
            <a:r>
              <a:rPr sz="2050" b="1" spc="-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conducteur</a:t>
            </a:r>
            <a:r>
              <a:rPr sz="2050" b="1" spc="-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dirty="0">
                <a:solidFill>
                  <a:srgbClr val="272558"/>
                </a:solidFill>
                <a:latin typeface="Calibri"/>
                <a:cs typeface="Calibri"/>
              </a:rPr>
              <a:t>à</a:t>
            </a:r>
            <a:r>
              <a:rPr sz="2050" b="1" spc="-5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2050" b="1" spc="-20" dirty="0">
                <a:solidFill>
                  <a:srgbClr val="272558"/>
                </a:solidFill>
                <a:latin typeface="Calibri"/>
                <a:cs typeface="Calibri"/>
              </a:rPr>
              <a:t>fil.</a:t>
            </a:r>
            <a:endParaRPr sz="2050" dirty="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48363" y="4685917"/>
            <a:ext cx="12889230" cy="14903450"/>
            <a:chOff x="1448363" y="4685917"/>
            <a:chExt cx="12889230" cy="14903450"/>
          </a:xfrm>
        </p:grpSpPr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120246" y="4685917"/>
              <a:ext cx="5217220" cy="340231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48363" y="16332315"/>
              <a:ext cx="5332230" cy="324890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6961" y="14818166"/>
              <a:ext cx="3991878" cy="3077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77166" y="16294031"/>
              <a:ext cx="5394688" cy="329471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64705" y="13100278"/>
              <a:ext cx="107596" cy="12558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67416" y="13088616"/>
              <a:ext cx="156941" cy="1263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9738928" y="12679091"/>
              <a:ext cx="883285" cy="864869"/>
            </a:xfrm>
            <a:custGeom>
              <a:avLst/>
              <a:gdLst/>
              <a:ahLst/>
              <a:cxnLst/>
              <a:rect l="l" t="t" r="r" b="b"/>
              <a:pathLst>
                <a:path w="883284" h="864869">
                  <a:moveTo>
                    <a:pt x="203355" y="0"/>
                  </a:moveTo>
                  <a:lnTo>
                    <a:pt x="163856" y="0"/>
                  </a:lnTo>
                  <a:lnTo>
                    <a:pt x="110175" y="815005"/>
                  </a:lnTo>
                  <a:lnTo>
                    <a:pt x="45593" y="695453"/>
                  </a:lnTo>
                  <a:lnTo>
                    <a:pt x="0" y="719657"/>
                  </a:lnTo>
                  <a:lnTo>
                    <a:pt x="4981" y="728623"/>
                  </a:lnTo>
                  <a:lnTo>
                    <a:pt x="28891" y="715847"/>
                  </a:lnTo>
                  <a:lnTo>
                    <a:pt x="109706" y="864643"/>
                  </a:lnTo>
                  <a:lnTo>
                    <a:pt x="121427" y="864643"/>
                  </a:lnTo>
                  <a:lnTo>
                    <a:pt x="178038" y="16819"/>
                  </a:lnTo>
                  <a:lnTo>
                    <a:pt x="193041" y="16819"/>
                  </a:lnTo>
                  <a:lnTo>
                    <a:pt x="193041" y="19222"/>
                  </a:lnTo>
                  <a:lnTo>
                    <a:pt x="883103" y="19222"/>
                  </a:lnTo>
                  <a:lnTo>
                    <a:pt x="883103" y="1640"/>
                  </a:lnTo>
                  <a:lnTo>
                    <a:pt x="203355" y="1640"/>
                  </a:lnTo>
                  <a:lnTo>
                    <a:pt x="203355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27149" y="12879809"/>
              <a:ext cx="82573" cy="10308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931970" y="13142297"/>
              <a:ext cx="690245" cy="17780"/>
            </a:xfrm>
            <a:custGeom>
              <a:avLst/>
              <a:gdLst/>
              <a:ahLst/>
              <a:cxnLst/>
              <a:rect l="l" t="t" r="r" b="b"/>
              <a:pathLst>
                <a:path w="690245" h="17780">
                  <a:moveTo>
                    <a:pt x="690062" y="0"/>
                  </a:moveTo>
                  <a:lnTo>
                    <a:pt x="0" y="0"/>
                  </a:lnTo>
                  <a:lnTo>
                    <a:pt x="0" y="17581"/>
                  </a:lnTo>
                  <a:lnTo>
                    <a:pt x="690062" y="17581"/>
                  </a:lnTo>
                  <a:lnTo>
                    <a:pt x="690062" y="0"/>
                  </a:lnTo>
                  <a:close/>
                </a:path>
              </a:pathLst>
            </a:custGeom>
            <a:solidFill>
              <a:srgbClr val="99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45390" y="12857833"/>
              <a:ext cx="195385" cy="17282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68788" y="12955878"/>
              <a:ext cx="85210" cy="12746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90861" y="12857833"/>
              <a:ext cx="195385" cy="17282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09629" y="12955878"/>
              <a:ext cx="86675" cy="12746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171836" y="13270757"/>
              <a:ext cx="213611" cy="12763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8608223" y="13062068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340606" y="0"/>
                  </a:moveTo>
                  <a:lnTo>
                    <a:pt x="340606" y="56025"/>
                  </a:lnTo>
                  <a:lnTo>
                    <a:pt x="0" y="56025"/>
                  </a:lnTo>
                  <a:lnTo>
                    <a:pt x="0" y="168134"/>
                  </a:lnTo>
                  <a:lnTo>
                    <a:pt x="340606" y="168134"/>
                  </a:lnTo>
                  <a:lnTo>
                    <a:pt x="340606" y="224160"/>
                  </a:lnTo>
                  <a:lnTo>
                    <a:pt x="452715" y="112109"/>
                  </a:lnTo>
                  <a:lnTo>
                    <a:pt x="340606" y="0"/>
                  </a:lnTo>
                  <a:close/>
                </a:path>
              </a:pathLst>
            </a:custGeom>
            <a:solidFill>
              <a:srgbClr val="EF8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608223" y="13062068"/>
              <a:ext cx="452755" cy="224154"/>
            </a:xfrm>
            <a:custGeom>
              <a:avLst/>
              <a:gdLst/>
              <a:ahLst/>
              <a:cxnLst/>
              <a:rect l="l" t="t" r="r" b="b"/>
              <a:pathLst>
                <a:path w="452754" h="224155">
                  <a:moveTo>
                    <a:pt x="0" y="56025"/>
                  </a:moveTo>
                  <a:lnTo>
                    <a:pt x="340606" y="56025"/>
                  </a:lnTo>
                  <a:lnTo>
                    <a:pt x="340606" y="0"/>
                  </a:lnTo>
                  <a:lnTo>
                    <a:pt x="452715" y="112109"/>
                  </a:lnTo>
                  <a:lnTo>
                    <a:pt x="340606" y="224160"/>
                  </a:lnTo>
                  <a:lnTo>
                    <a:pt x="340606" y="168134"/>
                  </a:lnTo>
                  <a:lnTo>
                    <a:pt x="0" y="168134"/>
                  </a:lnTo>
                  <a:lnTo>
                    <a:pt x="0" y="56025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319956" y="13038861"/>
              <a:ext cx="118380" cy="129632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531630" y="13057733"/>
              <a:ext cx="981075" cy="69850"/>
            </a:xfrm>
            <a:custGeom>
              <a:avLst/>
              <a:gdLst/>
              <a:ahLst/>
              <a:cxnLst/>
              <a:rect l="l" t="t" r="r" b="b"/>
              <a:pathLst>
                <a:path w="981075" h="69850">
                  <a:moveTo>
                    <a:pt x="156006" y="52514"/>
                  </a:moveTo>
                  <a:lnTo>
                    <a:pt x="0" y="52514"/>
                  </a:lnTo>
                  <a:lnTo>
                    <a:pt x="0" y="69392"/>
                  </a:lnTo>
                  <a:lnTo>
                    <a:pt x="156006" y="69392"/>
                  </a:lnTo>
                  <a:lnTo>
                    <a:pt x="156006" y="52514"/>
                  </a:lnTo>
                  <a:close/>
                </a:path>
                <a:path w="981075" h="69850">
                  <a:moveTo>
                    <a:pt x="156006" y="0"/>
                  </a:moveTo>
                  <a:lnTo>
                    <a:pt x="0" y="0"/>
                  </a:lnTo>
                  <a:lnTo>
                    <a:pt x="0" y="16827"/>
                  </a:lnTo>
                  <a:lnTo>
                    <a:pt x="156006" y="16827"/>
                  </a:lnTo>
                  <a:lnTo>
                    <a:pt x="156006" y="0"/>
                  </a:lnTo>
                  <a:close/>
                </a:path>
                <a:path w="981075" h="69850">
                  <a:moveTo>
                    <a:pt x="420293" y="26174"/>
                  </a:moveTo>
                  <a:lnTo>
                    <a:pt x="264299" y="26174"/>
                  </a:lnTo>
                  <a:lnTo>
                    <a:pt x="264299" y="43014"/>
                  </a:lnTo>
                  <a:lnTo>
                    <a:pt x="420293" y="43014"/>
                  </a:lnTo>
                  <a:lnTo>
                    <a:pt x="420293" y="26174"/>
                  </a:lnTo>
                  <a:close/>
                </a:path>
                <a:path w="981075" h="69850">
                  <a:moveTo>
                    <a:pt x="980795" y="25209"/>
                  </a:moveTo>
                  <a:lnTo>
                    <a:pt x="479729" y="25209"/>
                  </a:lnTo>
                  <a:lnTo>
                    <a:pt x="479729" y="42786"/>
                  </a:lnTo>
                  <a:lnTo>
                    <a:pt x="980795" y="42786"/>
                  </a:lnTo>
                  <a:lnTo>
                    <a:pt x="980795" y="25209"/>
                  </a:lnTo>
                  <a:close/>
                </a:path>
              </a:pathLst>
            </a:custGeom>
            <a:solidFill>
              <a:srgbClr val="2725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26720" y="12789970"/>
              <a:ext cx="135023" cy="183371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82724" y="12792490"/>
              <a:ext cx="310659" cy="233243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144514" y="13157710"/>
              <a:ext cx="135023" cy="18331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02803" y="13181738"/>
              <a:ext cx="90132" cy="15928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654859" y="12965372"/>
              <a:ext cx="452755" cy="220345"/>
            </a:xfrm>
            <a:custGeom>
              <a:avLst/>
              <a:gdLst/>
              <a:ahLst/>
              <a:cxnLst/>
              <a:rect l="l" t="t" r="r" b="b"/>
              <a:pathLst>
                <a:path w="452755" h="220344">
                  <a:moveTo>
                    <a:pt x="342833" y="0"/>
                  </a:moveTo>
                  <a:lnTo>
                    <a:pt x="342833" y="54911"/>
                  </a:lnTo>
                  <a:lnTo>
                    <a:pt x="0" y="54911"/>
                  </a:lnTo>
                  <a:lnTo>
                    <a:pt x="0" y="164794"/>
                  </a:lnTo>
                  <a:lnTo>
                    <a:pt x="342833" y="164794"/>
                  </a:lnTo>
                  <a:lnTo>
                    <a:pt x="342833" y="219764"/>
                  </a:lnTo>
                  <a:lnTo>
                    <a:pt x="452715" y="109882"/>
                  </a:lnTo>
                  <a:lnTo>
                    <a:pt x="34283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54859" y="12965372"/>
              <a:ext cx="452755" cy="220345"/>
            </a:xfrm>
            <a:custGeom>
              <a:avLst/>
              <a:gdLst/>
              <a:ahLst/>
              <a:cxnLst/>
              <a:rect l="l" t="t" r="r" b="b"/>
              <a:pathLst>
                <a:path w="452755" h="220344">
                  <a:moveTo>
                    <a:pt x="0" y="54911"/>
                  </a:moveTo>
                  <a:lnTo>
                    <a:pt x="342833" y="54911"/>
                  </a:lnTo>
                  <a:lnTo>
                    <a:pt x="342833" y="0"/>
                  </a:lnTo>
                  <a:lnTo>
                    <a:pt x="452715" y="109882"/>
                  </a:lnTo>
                  <a:lnTo>
                    <a:pt x="342833" y="219764"/>
                  </a:lnTo>
                  <a:lnTo>
                    <a:pt x="342833" y="164794"/>
                  </a:lnTo>
                  <a:lnTo>
                    <a:pt x="0" y="164794"/>
                  </a:lnTo>
                  <a:lnTo>
                    <a:pt x="0" y="54911"/>
                  </a:lnTo>
                  <a:close/>
                </a:path>
              </a:pathLst>
            </a:custGeom>
            <a:ln w="439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330014" y="12719821"/>
              <a:ext cx="106366" cy="116504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72465" y="13303048"/>
              <a:ext cx="281885" cy="209509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11309298" y="12666830"/>
            <a:ext cx="2774315" cy="9296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z</a:t>
            </a:r>
            <a:r>
              <a:rPr sz="1450" b="1" spc="3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:</a:t>
            </a:r>
            <a:r>
              <a:rPr sz="1450" b="1" spc="1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distance</a:t>
            </a:r>
            <a:r>
              <a:rPr sz="1450" b="1" spc="1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de</a:t>
            </a:r>
            <a:r>
              <a:rPr sz="1450" b="1" spc="1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996600"/>
                </a:solidFill>
                <a:latin typeface="Calibri"/>
                <a:cs typeface="Calibri"/>
              </a:rPr>
              <a:t>lévitation</a:t>
            </a:r>
            <a:endParaRPr sz="1450" dirty="0">
              <a:latin typeface="Calibri"/>
              <a:cs typeface="Calibri"/>
            </a:endParaRPr>
          </a:p>
          <a:p>
            <a:pPr marL="12700" marR="5080">
              <a:lnSpc>
                <a:spcPct val="101400"/>
              </a:lnSpc>
            </a:pP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M</a:t>
            </a:r>
            <a:r>
              <a:rPr sz="1450" b="1" spc="5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:</a:t>
            </a:r>
            <a:r>
              <a:rPr sz="1450" b="1" spc="8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aimantation</a:t>
            </a:r>
            <a:r>
              <a:rPr sz="1450" b="1" spc="7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(moment</a:t>
            </a:r>
            <a:r>
              <a:rPr sz="1450" b="1" spc="3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996600"/>
                </a:solidFill>
                <a:latin typeface="Calibri"/>
                <a:cs typeface="Calibri"/>
              </a:rPr>
              <a:t>dipolaire magnétique)</a:t>
            </a:r>
            <a:endParaRPr sz="14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m</a:t>
            </a:r>
            <a:r>
              <a:rPr sz="1450" b="1" spc="1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:</a:t>
            </a:r>
            <a:r>
              <a:rPr sz="1450" b="1" spc="6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masse</a:t>
            </a:r>
            <a:r>
              <a:rPr sz="1450" b="1" spc="25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996600"/>
                </a:solidFill>
                <a:latin typeface="Calibri"/>
                <a:cs typeface="Calibri"/>
              </a:rPr>
              <a:t>en</a:t>
            </a:r>
            <a:r>
              <a:rPr sz="1450" b="1" spc="50" dirty="0">
                <a:solidFill>
                  <a:srgbClr val="996600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996600"/>
                </a:solidFill>
                <a:latin typeface="Calibri"/>
                <a:cs typeface="Calibri"/>
              </a:rPr>
              <a:t>lévitation</a:t>
            </a:r>
            <a:endParaRPr sz="1450" dirty="0">
              <a:latin typeface="Calibri"/>
              <a:cs typeface="Calibri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/>
              <a:t>©</a:t>
            </a:r>
            <a:r>
              <a:rPr spc="30" dirty="0"/>
              <a:t> </a:t>
            </a:r>
            <a:r>
              <a:rPr spc="-10" dirty="0"/>
              <a:t>Toute</a:t>
            </a:r>
            <a:r>
              <a:rPr spc="10" dirty="0"/>
              <a:t> </a:t>
            </a:r>
            <a:r>
              <a:rPr dirty="0"/>
              <a:t>reproduction,</a:t>
            </a:r>
            <a:r>
              <a:rPr spc="20" dirty="0"/>
              <a:t> </a:t>
            </a:r>
            <a:r>
              <a:rPr dirty="0"/>
              <a:t>même</a:t>
            </a:r>
            <a:r>
              <a:rPr spc="25" dirty="0"/>
              <a:t> </a:t>
            </a:r>
            <a:r>
              <a:rPr dirty="0"/>
              <a:t>partielle,</a:t>
            </a:r>
            <a:r>
              <a:rPr spc="20" dirty="0"/>
              <a:t> </a:t>
            </a:r>
            <a:r>
              <a:rPr dirty="0"/>
              <a:t>doit</a:t>
            </a:r>
            <a:r>
              <a:rPr spc="15" dirty="0"/>
              <a:t> </a:t>
            </a:r>
            <a:r>
              <a:rPr dirty="0"/>
              <a:t>indiquer</a:t>
            </a:r>
            <a:r>
              <a:rPr spc="40" dirty="0"/>
              <a:t> </a:t>
            </a:r>
            <a:r>
              <a:rPr dirty="0"/>
              <a:t>clairement</a:t>
            </a:r>
            <a:r>
              <a:rPr spc="1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5" dirty="0"/>
              <a:t> </a:t>
            </a:r>
            <a:r>
              <a:rPr dirty="0"/>
              <a:t>de</a:t>
            </a:r>
            <a:r>
              <a:rPr spc="45" dirty="0"/>
              <a:t> </a:t>
            </a:r>
            <a:r>
              <a:rPr dirty="0"/>
              <a:t>tous les auteurs,</a:t>
            </a:r>
            <a:r>
              <a:rPr spc="25" dirty="0"/>
              <a:t> </a:t>
            </a:r>
            <a:r>
              <a:rPr dirty="0"/>
              <a:t>le</a:t>
            </a:r>
            <a:r>
              <a:rPr spc="10" dirty="0"/>
              <a:t> </a:t>
            </a:r>
            <a:r>
              <a:rPr dirty="0"/>
              <a:t>nom</a:t>
            </a:r>
            <a:r>
              <a:rPr spc="30" dirty="0"/>
              <a:t> </a:t>
            </a:r>
            <a:r>
              <a:rPr dirty="0"/>
              <a:t>du</a:t>
            </a:r>
            <a:r>
              <a:rPr spc="20" dirty="0"/>
              <a:t> </a:t>
            </a:r>
            <a:r>
              <a:rPr dirty="0"/>
              <a:t>Département,</a:t>
            </a:r>
            <a:r>
              <a:rPr spc="25" dirty="0"/>
              <a:t> </a:t>
            </a:r>
            <a:r>
              <a:rPr dirty="0"/>
              <a:t>ainsi</a:t>
            </a:r>
            <a:r>
              <a:rPr spc="35" dirty="0"/>
              <a:t> </a:t>
            </a:r>
            <a:r>
              <a:rPr dirty="0"/>
              <a:t>que</a:t>
            </a:r>
            <a:r>
              <a:rPr spc="50" dirty="0"/>
              <a:t> </a:t>
            </a:r>
            <a:r>
              <a:rPr dirty="0"/>
              <a:t>la</a:t>
            </a:r>
            <a:r>
              <a:rPr spc="25" dirty="0"/>
              <a:t> </a:t>
            </a:r>
            <a:r>
              <a:rPr dirty="0"/>
              <a:t>mention</a:t>
            </a:r>
            <a:r>
              <a:rPr spc="25" dirty="0"/>
              <a:t> </a:t>
            </a:r>
            <a:r>
              <a:rPr dirty="0"/>
              <a:t>«</a:t>
            </a:r>
            <a:r>
              <a:rPr spc="80" dirty="0"/>
              <a:t> </a:t>
            </a:r>
            <a:r>
              <a:rPr dirty="0"/>
              <a:t>Printemps</a:t>
            </a:r>
            <a:r>
              <a:rPr spc="35" dirty="0"/>
              <a:t> </a:t>
            </a:r>
            <a:r>
              <a:rPr dirty="0"/>
              <a:t>des Sciences</a:t>
            </a:r>
            <a:r>
              <a:rPr spc="40" dirty="0"/>
              <a:t> </a:t>
            </a:r>
            <a:r>
              <a:rPr dirty="0"/>
              <a:t>2025</a:t>
            </a:r>
            <a:r>
              <a:rPr spc="45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Exposition</a:t>
            </a:r>
            <a:r>
              <a:rPr spc="20" dirty="0"/>
              <a:t> </a:t>
            </a:r>
            <a:r>
              <a:rPr dirty="0"/>
              <a:t>des</a:t>
            </a:r>
            <a:r>
              <a:rPr spc="40" dirty="0"/>
              <a:t> </a:t>
            </a:r>
            <a:r>
              <a:rPr dirty="0"/>
              <a:t>Sciences</a:t>
            </a:r>
            <a:r>
              <a:rPr spc="50" dirty="0"/>
              <a:t> </a:t>
            </a:r>
            <a:r>
              <a:rPr dirty="0"/>
              <a:t>–</a:t>
            </a:r>
            <a:r>
              <a:rPr spc="25" dirty="0"/>
              <a:t> </a:t>
            </a:r>
            <a:r>
              <a:rPr dirty="0"/>
              <a:t>Bruxelles</a:t>
            </a:r>
            <a:r>
              <a:rPr spc="40" dirty="0"/>
              <a:t> </a:t>
            </a:r>
            <a:r>
              <a:rPr spc="-50" dirty="0"/>
              <a:t>»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4584490" y="12612768"/>
            <a:ext cx="2326005" cy="47688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110"/>
              </a:spcBef>
            </a:pP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:</a:t>
            </a:r>
            <a:r>
              <a:rPr sz="1450" b="1" spc="7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Force</a:t>
            </a:r>
            <a:r>
              <a:rPr sz="1450" b="1" spc="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électromotrice</a:t>
            </a:r>
            <a:r>
              <a:rPr sz="1450" b="1" spc="4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72558"/>
                </a:solidFill>
                <a:latin typeface="Calibri"/>
                <a:cs typeface="Calibri"/>
              </a:rPr>
              <a:t>induite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(tension</a:t>
            </a:r>
            <a:r>
              <a:rPr sz="1450" b="1" spc="8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72558"/>
                </a:solidFill>
                <a:latin typeface="Calibri"/>
                <a:cs typeface="Calibri"/>
              </a:rPr>
              <a:t>induite)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584490" y="13289819"/>
            <a:ext cx="222567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:</a:t>
            </a:r>
            <a:r>
              <a:rPr sz="1450" b="1" spc="7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Flux</a:t>
            </a:r>
            <a:r>
              <a:rPr sz="1450" b="1" spc="35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du</a:t>
            </a:r>
            <a:r>
              <a:rPr sz="1450" b="1" spc="2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dirty="0">
                <a:solidFill>
                  <a:srgbClr val="272558"/>
                </a:solidFill>
                <a:latin typeface="Calibri"/>
                <a:cs typeface="Calibri"/>
              </a:rPr>
              <a:t>champ</a:t>
            </a:r>
            <a:r>
              <a:rPr sz="1450" b="1" spc="30" dirty="0">
                <a:solidFill>
                  <a:srgbClr val="272558"/>
                </a:solidFill>
                <a:latin typeface="Calibri"/>
                <a:cs typeface="Calibri"/>
              </a:rPr>
              <a:t> </a:t>
            </a:r>
            <a:r>
              <a:rPr sz="1450" b="1" spc="-10" dirty="0">
                <a:solidFill>
                  <a:srgbClr val="272558"/>
                </a:solidFill>
                <a:latin typeface="Calibri"/>
                <a:cs typeface="Calibri"/>
              </a:rPr>
              <a:t>magnétique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</TotalTime>
  <Words>613</Words>
  <Application>Microsoft Macintosh PowerPoint</Application>
  <PresentationFormat>Personnalisé</PresentationFormat>
  <Paragraphs>59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 MT</vt:lpstr>
      <vt:lpstr>Calibri</vt:lpstr>
      <vt:lpstr>Times New Roman</vt:lpstr>
      <vt:lpstr>Wingdings</vt:lpstr>
      <vt:lpstr>Office Theme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RHABOUQI Ismail</cp:lastModifiedBy>
  <cp:revision>1</cp:revision>
  <dcterms:created xsi:type="dcterms:W3CDTF">2026-03-08T20:52:08Z</dcterms:created>
  <dcterms:modified xsi:type="dcterms:W3CDTF">2026-03-09T05:18:54Z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2025-03-18T00:00:00Z</vt:filetime>
  </property>
  <property fmtid="{D5CDD505-2E9C-101B-9397-08002B2CF9AE}" pid="3" name="LastSaved">
    <vt:filetime>2026-03-08T00:00:00Z</vt:filetime>
  </property>
</Properties>
</file>